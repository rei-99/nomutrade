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We're [team name], and in three weeks we built a working trading</a:t>
            </a:r>
          </a:p>
          <a:p>
            <a:r>
              <a:t>platform with straight-through processing — an order goes from ticket to</a:t>
            </a:r>
          </a:p>
          <a:p>
            <a:r>
              <a:t>settlement with zero manual steps. But we didn't start with technology. We</a:t>
            </a:r>
          </a:p>
          <a:p>
            <a:r>
              <a:t>started with four people.</a:t>
            </a:r>
          </a:p>
          <a:p/>
          <a:p>
            <a:r>
              <a:t>(Replace [Team name] / [Member …] placeholders; presenters P1–P5 per script §1:</a:t>
            </a:r>
          </a:p>
          <a:p>
            <a:r>
              <a:t>P1 corporate lead, P2/P4 technology, P3/P5 corporate.)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of the next fifteen minutes: what we built, how it supports real</a:t>
            </a:r>
          </a:p>
          <a:p>
            <a:r>
              <a:t>operational workflows, how we worked as a cross-functional team, what worked</a:t>
            </a:r>
          </a:p>
          <a:p>
            <a:r>
              <a:t>and what didn't, and where this goes next.</a:t>
            </a:r>
          </a:p>
          <a:p/>
          <a:p>
            <a:r>
              <a:t>Timing per script §1: demo section gets the biggest block (45%). Appendix</a:t>
            </a:r>
          </a:p>
          <a:p>
            <a:r>
              <a:t>slides A1–A3 stay on standby for Q&amp;A.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Rohan (Head of Product Development): "I want single-click trading."</a:t>
            </a:r>
          </a:p>
          <a:p>
            <a:r>
              <a:t>Tom &amp; Patricia (clients): "The current way is fine — don't make me learn</a:t>
            </a:r>
          </a:p>
          <a:p>
            <a:r>
              <a:t>another system. And stop sending me Excel."</a:t>
            </a:r>
          </a:p>
          <a:p>
            <a:r>
              <a:t>Nora (maintains today's batch system): "Why rebuild what we already have?</a:t>
            </a:r>
          </a:p>
          <a:p>
            <a:r>
              <a:t>Real-time is doable, but challenging."</a:t>
            </a:r>
          </a:p>
          <a:p>
            <a:r>
              <a:t>Roy (CTO): "Security, operations, SRE — DevSecOps from day one, or don't build</a:t>
            </a:r>
          </a:p>
          <a:p>
            <a:r>
              <a:t>it at all."</a:t>
            </a:r>
          </a:p>
          <a:p/>
          <a:p>
            <a:r>
              <a:t>Everything you're about to see is our answer to those four sentences. Hold us</a:t>
            </a:r>
          </a:p>
          <a:p>
            <a:r>
              <a:t>to it at the end.</a:t>
            </a:r>
          </a:p>
          <a:p/>
          <a:p>
            <a:r>
              <a:t>Handover: "To show you what that answer looks like — [P2]."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asked for five core modules — Order Execution, Portfolio Management,</a:t>
            </a:r>
          </a:p>
          <a:p>
            <a:r>
              <a:t>Reporting &amp; Charting, Technical Analytics, Paper Trading — on a DevSecOps</a:t>
            </a:r>
          </a:p>
          <a:p>
            <a:r>
              <a:t>foundation, using the program's simulation dataset. Our success bar: an order</a:t>
            </a:r>
          </a:p>
          <a:p>
            <a:r>
              <a:t>settles with no manual step, and every action is authorized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modules are live, plus the governance spine around them — RBAC,</a:t>
            </a:r>
          </a:p>
          <a:p>
            <a:r>
              <a:t>just-in-time access, break-glass, and a hash-chained audit trail. Eleven</a:t>
            </a:r>
          </a:p>
          <a:p>
            <a:r>
              <a:t>instruments: the seven dataset equities plus four bonds the business explicitly</a:t>
            </a:r>
          </a:p>
          <a:p>
            <a:r>
              <a:t>asked for. Five order types plus time-in-force and trailing stops. Price</a:t>
            </a:r>
          </a:p>
          <a:p>
            <a:r>
              <a:t>alerts, scheduled PDF/CSV reports, paper trading on the same pipeline as real</a:t>
            </a:r>
          </a:p>
          <a:p>
            <a:r>
              <a:t>trading, and a GenAI assistant.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diagram. A React single-page app talks REST and WebSocket to a FastAPI</a:t>
            </a:r>
          </a:p>
          <a:p>
            <a:r>
              <a:t>modular monolith — sixteen modules, one deployable. Inside, an order flows</a:t>
            </a:r>
          </a:p>
          <a:p>
            <a:r>
              <a:t>through a transactional outbox to the execution engine, the STP worker, and</a:t>
            </a:r>
          </a:p>
          <a:p>
            <a:r>
              <a:t>the settlement sweeper — asynchronous, event-driven, and idempotent. Market</a:t>
            </a:r>
          </a:p>
          <a:p>
            <a:r>
              <a:t>data is the program's dataset — about 190,000 price bars and 9,300 news items —</a:t>
            </a:r>
          </a:p>
          <a:p>
            <a:r>
              <a:t>replayed on a *simulation clock*, so the platform runs in market time, roughly</a:t>
            </a:r>
          </a:p>
          <a:p>
            <a:r>
              <a:t>a day every 78 seconds. Nothing in the system knows the data is simulated.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things. First, the assistant answers questions *grounded in your</a:t>
            </a:r>
          </a:p>
          <a:p>
            <a:r>
              <a:t>actual data* — positions, KPIs, news — with citations, and it refuses to invent</a:t>
            </a:r>
          </a:p>
          <a:p>
            <a:r>
              <a:t>figures it doesn't have. Second, the news panel summarizes real coverage for</a:t>
            </a:r>
          </a:p>
          <a:p>
            <a:r>
              <a:t>the selected instrument with a sentiment score and headline citations. And the</a:t>
            </a:r>
          </a:p>
          <a:p>
            <a:r>
              <a:t>guardrail: the assistant is **advisory only** — it can suggest a trade, but the</a:t>
            </a:r>
          </a:p>
          <a:p>
            <a:r>
              <a:t>suggestion always lands in the standard order ticket, with the same validation</a:t>
            </a:r>
          </a:p>
          <a:p>
            <a:r>
              <a:t>and the same two-click confirmation as any other order. Today it's a rule-based</a:t>
            </a:r>
          </a:p>
          <a:p>
            <a:r>
              <a:t>engine with a clean LLM seam — the interface is ready for a real model, and the</a:t>
            </a:r>
          </a:p>
          <a:p>
            <a:r>
              <a:t>responses are honestly marked `mock: true`.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live. Watch three things: (1) I buy 50 TSLA from the workspace —</a:t>
            </a:r>
          </a:p>
          <a:p>
            <a:r>
              <a:t>one click, a confirmation card with full cost impact, second click. (2) The</a:t>
            </a:r>
          </a:p>
          <a:p>
            <a:r>
              <a:t>position marks live over the WebSocket push — no refresh — and the risk panel</a:t>
            </a:r>
          </a:p>
          <a:p>
            <a:r>
              <a:t>reacts. (3) With no manual step, the settlement instruction transitions to</a:t>
            </a:r>
          </a:p>
          <a:p>
            <a:r>
              <a:t>*settled* — that is straight-through processing.</a:t>
            </a:r>
          </a:p>
          <a:p/>
          <a:p>
            <a:r>
              <a:t>Demo path (script §10): workspace → select TSLA → size 50 → BUY → confirmation</a:t>
            </a:r>
          </a:p>
          <a:p>
            <a:r>
              <a:t>card → Confirm → fill toast → position marks live → risk panel reacts → order</a:t>
            </a:r>
          </a:p>
          <a:p>
            <a:r>
              <a:t>status FILLED → settlement instruction → SETTLED.</a:t>
            </a:r>
          </a:p>
          <a:p/>
          <a:p>
            <a:r>
              <a:t>Handover: "A fill is where the technology story ends — but it's where the</a:t>
            </a:r>
          </a:p>
          <a:p>
            <a:r>
              <a:t>operations story begins. [P3]."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corporate side of the team mapped three workflows, and the platform</a:t>
            </a:r>
          </a:p>
          <a:p>
            <a:r>
              <a:t>implements all three.</a:t>
            </a:r>
          </a:p>
          <a:p/>
          <a:p>
            <a:r>
              <a:t>Trade settlement: execution creates a settlement instruction that moves</a:t>
            </a:r>
          </a:p>
          <a:p>
            <a:r>
              <a:t>EXECUTED → AFFIRMED → SETTLED automatically. Exceptions surface on the</a:t>
            </a:r>
          </a:p>
          <a:p>
            <a:r>
              <a:t>operations dashboard for the Operations Analyst, with audit on every</a:t>
            </a:r>
          </a:p>
          <a:p>
            <a:r>
              <a:t>transition. The same pipeline serves client books, house books and paper</a:t>
            </a:r>
          </a:p>
          <a:p>
            <a:r>
              <a:t>accounts — paper trading isn't a toy mode, it's the same code path with a</a:t>
            </a:r>
          </a:p>
          <a:p>
            <a:r>
              <a:t>portfolio type flag.</a:t>
            </a:r>
          </a:p>
          <a:p/>
          <a:p>
            <a:r>
              <a:t>Risk management: pre-trade, every order passes validation — cash, lot size, a</a:t>
            </a:r>
          </a:p>
          <a:p>
            <a:r>
              <a:t>configurable max notional, and a restricted-instrument list managed by our</a:t>
            </a:r>
          </a:p>
          <a:p>
            <a:r>
              <a:t>Security Administrator; restricted orders reject with a reason, and the</a:t>
            </a:r>
          </a:p>
          <a:p>
            <a:r>
              <a:t>rejection is audited. Post-trade, the risk panel computes concentration,</a:t>
            </a:r>
          </a:p>
          <a:p>
            <a:r>
              <a:t>volatility and top holdings live from positions.</a:t>
            </a:r>
          </a:p>
          <a:p/>
          <a:p>
            <a:r>
              <a:t>System access: nobody gets anything by default. Roles grant permissions;</a:t>
            </a:r>
          </a:p>
          <a:p>
            <a:r>
              <a:t>just-in-time grants expire automatically; privileged actions go through a</a:t>
            </a:r>
          </a:p>
          <a:p>
            <a:r>
              <a:t>CyberArk-style checkout (mocked adapter — the interface is real, the vault is</a:t>
            </a:r>
          </a:p>
          <a:p>
            <a:r>
              <a:t>the training stand-in); break-glass is time-boxed to four hours with a 24-hour</a:t>
            </a:r>
          </a:p>
          <a:p>
            <a:r>
              <a:t>review SLA. Every denial, grant and activation is written to a hash-chained,</a:t>
            </a:r>
          </a:p>
          <a:p>
            <a:r>
              <a:t>append-only audit trail — tamper-evident by construction, searchable and</a:t>
            </a:r>
          </a:p>
          <a:p>
            <a:r>
              <a:t>exportable by the auditor role.</a:t>
            </a:r>
          </a:p>
          <a:p/>
          <a:p>
            <a:r>
              <a:t>Handover: "Building that in three weeks took a way of working, not just code —</a:t>
            </a:r>
          </a:p>
          <a:p>
            <a:r>
              <a:t>[P4]."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one-week sprints. Week 1: walking skeleton plus the governance spine —</a:t>
            </a:r>
          </a:p>
          <a:p>
            <a:r>
              <a:t>auth, RBAC, audit, the access-request lifecycle, and the dataset loader.</a:t>
            </a:r>
          </a:p>
          <a:p>
            <a:r>
              <a:t>Week 2: the trading core — order ticket, execution engine, STP settlement,</a:t>
            </a:r>
          </a:p>
          <a:p>
            <a:r>
              <a:t>portfolios, charts, notifications. Week 3: breadth and hardening — paper</a:t>
            </a:r>
          </a:p>
          <a:p>
            <a:r>
              <a:t>trading, reports, analytics, admin dashboards, and the GenAI assistant. Daily</a:t>
            </a:r>
          </a:p>
          <a:p>
            <a:r>
              <a:t>facilitator touchpoints; structured feedback after each milestone — and we</a:t>
            </a:r>
          </a:p>
          <a:p>
            <a:r>
              <a:t>changed course because of it. The product-owner feedback round after the</a:t>
            </a:r>
          </a:p>
          <a:p>
            <a:r>
              <a:t>trading demo produced four concrete changes you saw: the two-click</a:t>
            </a:r>
          </a:p>
          <a:p>
            <a:r>
              <a:t>confirmation, bonds, stop orders, and order restrictions. That feedback is in</a:t>
            </a:r>
          </a:p>
          <a:p>
            <a:r>
              <a:t>the repo as interview notes and a design document.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before code: twenty-four numbered design documents, one per module or</a:t>
            </a:r>
          </a:p>
          <a:p>
            <a:r>
              <a:t>major feature, each traced to SRS requirement IDs. Git flow: feature branches</a:t>
            </a:r>
          </a:p>
          <a:p>
            <a:r>
              <a:t>off an integration branch — you can see nine merges and seven feature branches</a:t>
            </a:r>
          </a:p>
          <a:p>
            <a:r>
              <a:t>in the history — with a dated changelog entry per milestone. Every milestone</a:t>
            </a:r>
          </a:p>
          <a:p>
            <a:r>
              <a:t>was verified the same way: the full test suite, the strict TypeScript build,</a:t>
            </a:r>
          </a:p>
          <a:p>
            <a:r>
              <a:t>an end-to-end walk of the real stack, and headless-browser screenshots for UI</a:t>
            </a:r>
          </a:p>
          <a:p>
            <a:r>
              <a:t>changes — verified by a second pair of eyes, never trusted on the author's</a:t>
            </a:r>
          </a:p>
          <a:p>
            <a:r>
              <a:t>word. CI/CD is defined as a six-stage GitLab pipeline — lint, test, security</a:t>
            </a:r>
          </a:p>
          <a:p>
            <a:r>
              <a:t>scan, build, deploy-dev, deploy-demo — with Docker images for both tiers and</a:t>
            </a:r>
          </a:p>
          <a:p>
            <a:r>
              <a:t>Terraform for a single-VM cloud deployment. Honest caveat: the pipeline,</a:t>
            </a:r>
          </a:p>
          <a:p>
            <a:r>
              <a:t>containers and Terraform are written and statically reviewed, but no cloud was</a:t>
            </a:r>
          </a:p>
          <a:p>
            <a:r>
              <a:t>available in the program environment — they have not been executed. That stays</a:t>
            </a:r>
          </a:p>
          <a:p>
            <a:r>
              <a:t>on the roadmap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to day this meant: corporate analysts owned the SRS traceability and the</a:t>
            </a:r>
          </a:p>
          <a:p>
            <a:r>
              <a:t>stakeholder interviews — eighteen open questions, each assigned to a</a:t>
            </a:r>
          </a:p>
          <a:p>
            <a:r>
              <a:t>stakeholder — and technology owned the build. The product-owner interview is</a:t>
            </a:r>
          </a:p>
          <a:p>
            <a:r>
              <a:t>the clearest joint artifact: the business said "equities only is not credible,"</a:t>
            </a:r>
          </a:p>
          <a:p>
            <a:r>
              <a:t>and two days later the platform priced bonds properly, quoted as percent of</a:t>
            </a:r>
          </a:p>
          <a:p>
            <a:r>
              <a:t>par with correct cash math. One real misalignment: "single-click trading" —</a:t>
            </a:r>
          </a:p>
          <a:p>
            <a:r>
              <a:t>technology heard *one* click, the business meant *one informed decision*. The</a:t>
            </a:r>
          </a:p>
          <a:p>
            <a:r>
              <a:t>resolution was the two-click flow: one click to arm, a confirmation card with</a:t>
            </a:r>
          </a:p>
          <a:p>
            <a:r>
              <a:t>the full cost impact, one click to submit. Faster than a ticket, safer than a</a:t>
            </a:r>
          </a:p>
          <a:p>
            <a:r>
              <a:t>blind click.</a:t>
            </a:r>
          </a:p>
          <a:p/>
          <a:p>
            <a:r>
              <a:t>Handover: "That's how we worked. What actually held up — and what didn't —</a:t>
            </a:r>
          </a:p>
          <a:p>
            <a:r>
              <a:t>[P5]."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war stories, all real.</a:t>
            </a:r>
          </a:p>
          <a:p/>
          <a:p>
            <a:r>
              <a:t>The dataset that silently didn't load: after switching to the real dataset,</a:t>
            </a:r>
          </a:p>
          <a:p>
            <a:r>
              <a:t>every stock showed "No price data." Root cause: legacy rows from an old dev</a:t>
            </a:r>
          </a:p>
          <a:p>
            <a:r>
              <a:t>database made the loader's global "is the table empty?" check skip the entire</a:t>
            </a:r>
          </a:p>
          <a:p>
            <a:r>
              <a:t>tick load. Found by inspecting the database, not by guessing; fixed by loading</a:t>
            </a:r>
          </a:p>
          <a:p>
            <a:r>
              <a:t>per symbol, with a regression test.</a:t>
            </a:r>
          </a:p>
          <a:p/>
          <a:p>
            <a:r>
              <a:t>The test that only failed after midnight: a news fixture used relative-to-now</a:t>
            </a:r>
          </a:p>
          <a:p>
            <a:r>
              <a:t>timestamps; between midnight and 2 a.m. UTC the two items straddled a day</a:t>
            </a:r>
          </a:p>
          <a:p>
            <a:r>
              <a:t>boundary and the suite went red. It only ever passed because of the hour it</a:t>
            </a:r>
          </a:p>
          <a:p>
            <a:r>
              <a:t>ran. Now anchored deterministically — and it made us re-audit every</a:t>
            </a:r>
          </a:p>
          <a:p>
            <a:r>
              <a:t>time-sensitive test.</a:t>
            </a:r>
          </a:p>
          <a:p/>
          <a:p>
            <a:r>
              <a:t>Real-time wasn't a library import: cancellations mid-database-call could wedge</a:t>
            </a:r>
          </a:p>
          <a:p>
            <a:r>
              <a:t>the event loop, and naive datetimes compared *silently* wrong against</a:t>
            </a:r>
          </a:p>
          <a:p>
            <a:r>
              <a:t>timezone-aware ones. Both are now documented pitfalls with fixes and tests</a:t>
            </a:r>
          </a:p>
          <a:p>
            <a:r>
              <a:t>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design-first — 24 design docs meant feedback rounds changed documents</a:t>
            </a:r>
          </a:p>
          <a:p>
            <a:r>
              <a:t>before they changed code. The event pipeline — the STP flow never needed a</a:t>
            </a:r>
          </a:p>
          <a:p>
            <a:r>
              <a:t>manual hack. Verification discipline — 87 tests, a strict build, and</a:t>
            </a:r>
          </a:p>
          <a:p>
            <a:r>
              <a:t>screenshot-verified UI rounds.</a:t>
            </a:r>
          </a:p>
          <a:p/>
          <a:p>
            <a:r>
              <a:t>What didn't: we have **no frontend tests** — UI quality rests on build</a:t>
            </a:r>
          </a:p>
          <a:p>
            <a:r>
              <a:t>strictness and manual verification. The deployment stack is unexecuted — no</a:t>
            </a:r>
          </a:p>
          <a:p>
            <a:r>
              <a:t>cloud in the program environment. And the GenAI reality check: a rule-based</a:t>
            </a:r>
          </a:p>
          <a:p>
            <a:r>
              <a:t>assistant is robust and honest, but it is not a language model — the summary</a:t>
            </a:r>
          </a:p>
          <a:p>
            <a:r>
              <a:t>quality ceiling is real, and that's a phase-2 decision, not a bug.</a:t>
            </a:r>
          </a:p>
          <a:p/>
          <a:p>
            <a:r>
              <a:t>Handover: "So what did three weeks teach us — [P1]."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event-driven design pays for itself the first time a requirement</a:t>
            </a:r>
          </a:p>
          <a:p>
            <a:r>
              <a:t>changes mid-project — trailing stops and report scheduling both slotted into</a:t>
            </a:r>
          </a:p>
          <a:p>
            <a:r>
              <a:t>the existing pipeline. And GenAI in production is a guardrail problem before</a:t>
            </a:r>
          </a:p>
          <a:p>
            <a:r>
              <a:t>it's a model problem.</a:t>
            </a:r>
          </a:p>
          <a:p/>
          <a:p>
            <a:r>
              <a:t>Domain: settlement is a workflow, not a status field — the corporate mapping</a:t>
            </a:r>
          </a:p>
          <a:p>
            <a:r>
              <a:t>of affirm/settle semantics is what made the STP demo credible. And "a bond is</a:t>
            </a:r>
          </a:p>
          <a:p>
            <a:r>
              <a:t>not a stock with a different symbol" — percent-of-par quoting, yield and</a:t>
            </a:r>
          </a:p>
          <a:p>
            <a:r>
              <a:t>duration all had to be first-class.</a:t>
            </a:r>
          </a:p>
          <a:p/>
          <a:p>
            <a:r>
              <a:t>Professional: the stakeholder-voices framing changed how we built — every</a:t>
            </a:r>
          </a:p>
          <a:p>
            <a:r>
              <a:t>feature traces to a person, and that made prioritization arguments short. And</a:t>
            </a:r>
          </a:p>
          <a:p>
            <a:r>
              <a:t>honest status beats impressive status: facilitators know what three weeks</a:t>
            </a:r>
          </a:p>
          <a:p>
            <a:r>
              <a:t>allows.</a:t>
            </a:r>
          </a:p>
          <a:p/>
          <a:p>
            <a:r>
              <a:t>Handover: "Which brings us back to the four people we started with — [P3]."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commits on the integration branch, 9 merges, 7 feature branches. 87</a:t>
            </a:r>
          </a:p>
          <a:p>
            <a:r>
              <a:t>backend tests, all green. 16 backend modules, 24 design documents, a dated</a:t>
            </a:r>
          </a:p>
          <a:p>
            <a:r>
              <a:t>changelog for every milestone. 11 instruments, ~190k price bars and 9.3k news</a:t>
            </a:r>
          </a:p>
          <a:p>
            <a:r>
              <a:t>items replayed on the simulation clock. Zero pipeline runs — the CI/CD is</a:t>
            </a:r>
          </a:p>
          <a:p>
            <a:r>
              <a:t>defined and reviewed, not yet executed. That zero is on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 scalability &amp; DevSecOps: run the pipeline for real; Alembic migrations;</a:t>
            </a:r>
          </a:p>
          <a:p>
            <a:r>
              <a:t>multi-instance deployment with the Redis session and event-bus path that</a:t>
            </a:r>
          </a:p>
          <a:p>
            <a:r>
              <a:t>already exists; external audit anchoring.</a:t>
            </a:r>
          </a:p>
          <a:p/>
          <a:p>
            <a:r>
              <a:t>Tom &amp; Patricia — adoption: keep the dashboard the single screen they asked</a:t>
            </a:r>
          </a:p>
          <a:p>
            <a:r>
              <a:t>for; live news via the provider seam the business already reviewed; change</a:t>
            </a:r>
          </a:p>
          <a:p>
            <a:r>
              <a:t>management is a feature, not an afterthought.</a:t>
            </a:r>
          </a:p>
          <a:p/>
          <a:p>
            <a:r>
              <a:t>Nora — maintainability: the assistant's LLM seam lets a real model in without</a:t>
            </a:r>
          </a:p>
          <a:p>
            <a:r>
              <a:t>touching the guardrails; the batch system's knowledge is preserved in 24</a:t>
            </a:r>
          </a:p>
          <a:p>
            <a:r>
              <a:t>design docs and a runbook — we built *with* her skepticism, not against it.</a:t>
            </a:r>
          </a:p>
          <a:p/>
          <a:p>
            <a:r>
              <a:t>Rohan — cost/benefit for the CFO: iceberg orders and per-desk limits are</a:t>
            </a:r>
          </a:p>
          <a:p>
            <a:r>
              <a:t>designed but deferred; the roadmap is sequenced by business value, and the</a:t>
            </a:r>
          </a:p>
          <a:p>
            <a:r>
              <a:t>demo you saw runs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set out to answer four people: one-click trading that's still an informed</a:t>
            </a:r>
          </a:p>
          <a:p>
            <a:r>
              <a:t>decision; a dashboard that replaces Excel without teaching a new system; a</a:t>
            </a:r>
          </a:p>
          <a:p>
            <a:r>
              <a:t>rebuild that respects what the batch system knows; and DevSecOps that was</a:t>
            </a:r>
          </a:p>
          <a:p>
            <a:r>
              <a:t>day-one, not day-twenty. Thank you — questions?</a:t>
            </a:r>
          </a:p>
          <a:p/>
          <a:p>
            <a:r>
              <a:t>Q&amp;A ammo in script §9 (10 likely questions: ROI of rebuilding, why not keep</a:t>
            </a:r>
          </a:p>
          <a:p>
            <a:r>
              <a:t>batch, passwordless login, GenAI wrongness, no live market data, scaling,</a:t>
            </a:r>
          </a:p>
          <a:p>
            <a:r>
              <a:t>partial fills, what runs in CI, looping sim clock, one more week). Appendix</a:t>
            </a:r>
          </a:p>
          <a:p>
            <a:r>
              <a:t>slides A1–A3 on standby.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about the trade flow: order → validation (cash, lot size, max</a:t>
            </a:r>
          </a:p>
          <a:p>
            <a:r>
              <a:t>notional, restricted list) → execution against the tick stream → STP worker</a:t>
            </a:r>
          </a:p>
          <a:p>
            <a:r>
              <a:t>(position/cash + settlement instruction) → settlement sweeper moves EXECUTED →</a:t>
            </a:r>
          </a:p>
          <a:p>
            <a:r>
              <a:t>AFFIRMED → SETTLED automatically, audit on every transition.</a:t>
            </a:r>
          </a:p>
          <a:p/>
          <a:p>
            <a:r>
              <a:t>If asked about partial fills (script §9 Q7): out of MVP scope by design —</a:t>
            </a:r>
          </a:p>
          <a:p>
            <a:r>
              <a:t>orders fill whole or rest working; executions are separate records, so</a:t>
            </a:r>
          </a:p>
          <a:p>
            <a:r>
              <a:t>partials are admitted without a schema change.</a:t>
            </a:r>
          </a:p>
          <a:p/>
          <a:p>
            <a:r>
              <a:t>If asked about exceptions: they surface on the operations dashboard with the</a:t>
            </a:r>
          </a:p>
          <a:p>
            <a:r>
              <a:t>full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about the data model: four clusters — identity &amp; access (users,</a:t>
            </a:r>
          </a:p>
          <a:p>
            <a:r>
              <a:t>roles, permissions, grants, access requests, break-glass), market data</a:t>
            </a:r>
          </a:p>
          <a:p>
            <a:r>
              <a:t>(instruments, price ticks, news + sentiment), trading (portfolios, orders,</a:t>
            </a:r>
          </a:p>
          <a:p>
            <a:r>
              <a:t>executions, settlement instructions, positions), assurance (valuation</a:t>
            </a:r>
          </a:p>
          <a:p>
            <a:r>
              <a:t>snapshots, audit events, outbox events, reports).</a:t>
            </a:r>
          </a:p>
          <a:p/>
          <a:p>
            <a:r>
              <a:t>If asked "your login is passwordless — how is that security?" (script §9 Q3):</a:t>
            </a:r>
          </a:p>
          <a:p>
            <a:r>
              <a:t>it isn't, and we say so — dev-login is a training-only flag. The real model is</a:t>
            </a:r>
          </a:p>
          <a:p>
            <a:r>
              <a:t>server-side sessions, deny-by-default RBAC re-checked per request,</a:t>
            </a:r>
          </a:p>
          <a:p>
            <a:r>
              <a:t>hash-chained audit; SSO via OIDC is the designed integration point.</a:t>
            </a:r>
          </a:p>
          <a:p/>
          <a:p>
            <a:r>
              <a:t>If asked how it scales (Q6): stateless API; Redis sessions and event streams</a:t>
            </a:r>
          </a:p>
          <a:p>
            <a:r>
              <a:t>already implemented behind config flags; module boundaries drawn for a</a:t>
            </a:r>
          </a:p>
          <a:p>
            <a:r>
              <a:t>mechanical split.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"you claim DevOps — what actually runs in CI?" (script §9 Q8): today,</a:t>
            </a:r>
          </a:p>
          <a:p>
            <a:r>
              <a:t>lint, tests, and security scans are defined to block merges; the pipeline file</a:t>
            </a:r>
          </a:p>
          <a:p>
            <a:r>
              <a:t>is real. What we did not do in the program environment is execute it in</a:t>
            </a:r>
          </a:p>
          <a:p>
            <a:r>
              <a:t>GitLab — no cloud access — so we replicated the gates locally on every merge.</a:t>
            </a:r>
          </a:p>
          <a:p/>
          <a:p>
            <a:r>
              <a:t>If asked "what would you do with one more week?" (Q10): run the deployment</a:t>
            </a:r>
          </a:p>
          <a:p>
            <a:r>
              <a:t>stack for real, add the load test we specified (200 concurrent push clients),</a:t>
            </a:r>
          </a:p>
          <a:p>
            <a:r>
              <a:t>and frontend tests — in that order.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17320"/>
            <a:ext cx="11094720" cy="274320"/>
          </a:xfrm>
          <a:prstGeom prst="rect">
            <a:avLst/>
          </a:prstGeom>
          <a:noFill/>
        </p:spPr>
        <p:txBody>
          <a:bodyPr wrap="square" anchor="t" lIns="0" rIns="0" tIns="0" bIns="0">
            <a:spAutoFit/>
          </a:bodyPr>
          <a:lstStyle/>
          <a:p>
            <a:pPr algn="ctr">
              <a:lnSpc>
                <a:spcPct val="100000"/>
              </a:lnSpc>
              <a:spcAft>
                <a:spcPts val="400"/>
              </a:spcAft>
            </a:pPr>
            <a:r>
              <a:rPr sz="1200" b="1" i="0">
                <a:solidFill>
                  <a:srgbClr val="8A94A6"/>
                </a:solidFill>
                <a:latin typeface="Segoe UI"/>
              </a:rPr>
              <a:t>NOMURA TECH GRADUATE PROGRAM 2026  ·  FINAL TEAM PRESENTATION</a:t>
            </a:r>
          </a:p>
        </p:txBody>
      </p:sp>
      <p:sp>
        <p:nvSpPr>
          <p:cNvPr id="4" name="TextBox 3"/>
          <p:cNvSpPr txBox="1"/>
          <p:nvPr/>
        </p:nvSpPr>
        <p:spPr>
          <a:xfrm>
            <a:off x="548640" y="1965960"/>
            <a:ext cx="11094720" cy="1463040"/>
          </a:xfrm>
          <a:prstGeom prst="rect">
            <a:avLst/>
          </a:prstGeom>
          <a:noFill/>
        </p:spPr>
        <p:txBody>
          <a:bodyPr wrap="square" anchor="t" lIns="0" rIns="0" tIns="0" bIns="0">
            <a:spAutoFit/>
          </a:bodyPr>
          <a:lstStyle/>
          <a:p>
            <a:pPr algn="ctr">
              <a:lnSpc>
                <a:spcPct val="100000"/>
              </a:lnSpc>
              <a:spcAft>
                <a:spcPts val="200"/>
              </a:spcAft>
            </a:pPr>
            <a:r>
              <a:rPr sz="3400" b="1" i="0">
                <a:solidFill>
                  <a:srgbClr val="1F3864"/>
                </a:solidFill>
                <a:latin typeface="Segoe UI"/>
              </a:rPr>
              <a:t>Next-Generation Trading Platform</a:t>
            </a:r>
          </a:p>
          <a:p>
            <a:pPr algn="ctr">
              <a:lnSpc>
                <a:spcPct val="100000"/>
              </a:lnSpc>
              <a:spcAft>
                <a:spcPts val="200"/>
              </a:spcAft>
            </a:pPr>
            <a:r>
              <a:rPr sz="3400" b="1" i="0">
                <a:solidFill>
                  <a:srgbClr val="1F3864"/>
                </a:solidFill>
                <a:latin typeface="Segoe UI"/>
              </a:rPr>
              <a:t>with Straight-Through Processing</a:t>
            </a:r>
          </a:p>
        </p:txBody>
      </p:sp>
      <p:sp>
        <p:nvSpPr>
          <p:cNvPr id="5" name="Rectangle 4"/>
          <p:cNvSpPr/>
          <p:nvPr/>
        </p:nvSpPr>
        <p:spPr>
          <a:xfrm>
            <a:off x="5547360" y="3401568"/>
            <a:ext cx="1097280" cy="41148"/>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657600"/>
            <a:ext cx="11094720" cy="365760"/>
          </a:xfrm>
          <a:prstGeom prst="rect">
            <a:avLst/>
          </a:prstGeom>
          <a:noFill/>
        </p:spPr>
        <p:txBody>
          <a:bodyPr wrap="square" anchor="t" lIns="0" rIns="0" tIns="0" bIns="0">
            <a:spAutoFit/>
          </a:bodyPr>
          <a:lstStyle/>
          <a:p>
            <a:pPr algn="ctr">
              <a:lnSpc>
                <a:spcPct val="100000"/>
              </a:lnSpc>
              <a:spcAft>
                <a:spcPts val="400"/>
              </a:spcAft>
            </a:pPr>
            <a:r>
              <a:rPr sz="1500" b="0" i="1">
                <a:solidFill>
                  <a:srgbClr val="333F50"/>
                </a:solidFill>
                <a:latin typeface="Segoe UI"/>
              </a:rPr>
              <a:t>An order goes from ticket to settlement with zero manual steps.</a:t>
            </a:r>
          </a:p>
        </p:txBody>
      </p:sp>
      <p:sp>
        <p:nvSpPr>
          <p:cNvPr id="7" name="TextBox 6"/>
          <p:cNvSpPr txBox="1"/>
          <p:nvPr/>
        </p:nvSpPr>
        <p:spPr>
          <a:xfrm>
            <a:off x="548640" y="4709160"/>
            <a:ext cx="11094720" cy="320040"/>
          </a:xfrm>
          <a:prstGeom prst="rect">
            <a:avLst/>
          </a:prstGeom>
          <a:noFill/>
        </p:spPr>
        <p:txBody>
          <a:bodyPr wrap="square" anchor="t" lIns="0" rIns="0" tIns="0" bIns="0">
            <a:spAutoFit/>
          </a:bodyPr>
          <a:lstStyle/>
          <a:p>
            <a:pPr algn="ctr">
              <a:lnSpc>
                <a:spcPct val="100000"/>
              </a:lnSpc>
              <a:spcAft>
                <a:spcPts val="400"/>
              </a:spcAft>
            </a:pPr>
            <a:r>
              <a:rPr sz="1250" b="1" i="0">
                <a:solidFill>
                  <a:srgbClr val="1F3864"/>
                </a:solidFill>
                <a:latin typeface="Segoe UI"/>
              </a:rPr>
              <a:t>[Team name]  —  [Member 1] · [Member 2] · [Member 3] · [Member 4] · [Member 5]</a:t>
            </a:r>
          </a:p>
        </p:txBody>
      </p:sp>
      <p:sp>
        <p:nvSpPr>
          <p:cNvPr id="8" name="TextBox 7"/>
          <p:cNvSpPr txBox="1"/>
          <p:nvPr/>
        </p:nvSpPr>
        <p:spPr>
          <a:xfrm>
            <a:off x="548640" y="5120640"/>
            <a:ext cx="11094720" cy="274320"/>
          </a:xfrm>
          <a:prstGeom prst="rect">
            <a:avLst/>
          </a:prstGeom>
          <a:noFill/>
        </p:spPr>
        <p:txBody>
          <a:bodyPr wrap="square" anchor="t" lIns="0" rIns="0" tIns="0" bIns="0">
            <a:spAutoFit/>
          </a:bodyPr>
          <a:lstStyle/>
          <a:p>
            <a:pPr algn="ctr">
              <a:lnSpc>
                <a:spcPct val="100000"/>
              </a:lnSpc>
              <a:spcAft>
                <a:spcPts val="400"/>
              </a:spcAft>
            </a:pPr>
            <a:r>
              <a:rPr sz="1200" b="0" i="0">
                <a:solidFill>
                  <a:srgbClr val="8A94A6"/>
                </a:solidFill>
                <a:latin typeface="Segoe UI"/>
              </a:rPr>
              <a:t>30 July 2026</a:t>
            </a:r>
          </a:p>
        </p:txBody>
      </p:sp>
      <p:sp>
        <p:nvSpPr>
          <p:cNvPr id="9" name="TextBox 8"/>
          <p:cNvSpPr txBox="1"/>
          <p:nvPr/>
        </p:nvSpPr>
        <p:spPr>
          <a:xfrm>
            <a:off x="548640" y="6126480"/>
            <a:ext cx="11094720" cy="274320"/>
          </a:xfrm>
          <a:prstGeom prst="rect">
            <a:avLst/>
          </a:prstGeom>
          <a:noFill/>
        </p:spPr>
        <p:txBody>
          <a:bodyPr wrap="square" anchor="t" lIns="0" rIns="0" tIns="0" bIns="0">
            <a:spAutoFit/>
          </a:bodyPr>
          <a:lstStyle/>
          <a:p>
            <a:pPr algn="ctr">
              <a:lnSpc>
                <a:spcPct val="100000"/>
              </a:lnSpc>
              <a:spcAft>
                <a:spcPts val="400"/>
              </a:spcAft>
            </a:pPr>
            <a:r>
              <a:rPr sz="1000" b="0" i="1">
                <a:solidFill>
                  <a:srgbClr val="8A94A6"/>
                </a:solidFill>
                <a:latin typeface="Segoe UI"/>
              </a:rPr>
              <a:t>Training environment — market data is a replayed simulation dataset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15 MINUTES + 5 MINUTES Q&amp;A</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Agenda</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2</a:t>
            </a:r>
          </a:p>
        </p:txBody>
      </p:sp>
      <p:sp>
        <p:nvSpPr>
          <p:cNvPr id="7" name="Rounded Rectangle 6"/>
          <p:cNvSpPr/>
          <p:nvPr/>
        </p:nvSpPr>
        <p:spPr>
          <a:xfrm>
            <a:off x="548640" y="1417320"/>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1</a:t>
            </a:r>
          </a:p>
        </p:txBody>
      </p:sp>
      <p:sp>
        <p:nvSpPr>
          <p:cNvPr id="8" name="TextBox 7"/>
          <p:cNvSpPr txBox="1"/>
          <p:nvPr/>
        </p:nvSpPr>
        <p:spPr>
          <a:xfrm>
            <a:off x="1188720" y="1444752"/>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The ask — four stakeholder voices</a:t>
            </a:r>
          </a:p>
        </p:txBody>
      </p:sp>
      <p:sp>
        <p:nvSpPr>
          <p:cNvPr id="9" name="TextBox 8"/>
          <p:cNvSpPr txBox="1"/>
          <p:nvPr/>
        </p:nvSpPr>
        <p:spPr>
          <a:xfrm>
            <a:off x="8778240" y="1472184"/>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P1 · 0:00–1:00</a:t>
            </a:r>
          </a:p>
        </p:txBody>
      </p:sp>
      <p:sp>
        <p:nvSpPr>
          <p:cNvPr id="10" name="Rounded Rectangle 9"/>
          <p:cNvSpPr/>
          <p:nvPr/>
        </p:nvSpPr>
        <p:spPr>
          <a:xfrm>
            <a:off x="548640" y="1984248"/>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2</a:t>
            </a:r>
          </a:p>
        </p:txBody>
      </p:sp>
      <p:sp>
        <p:nvSpPr>
          <p:cNvPr id="11" name="TextBox 10"/>
          <p:cNvSpPr txBox="1"/>
          <p:nvPr/>
        </p:nvSpPr>
        <p:spPr>
          <a:xfrm>
            <a:off x="1188720" y="2011680"/>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What we built + live demo</a:t>
            </a:r>
          </a:p>
        </p:txBody>
      </p:sp>
      <p:sp>
        <p:nvSpPr>
          <p:cNvPr id="12" name="TextBox 11"/>
          <p:cNvSpPr txBox="1"/>
          <p:nvPr/>
        </p:nvSpPr>
        <p:spPr>
          <a:xfrm>
            <a:off x="8778240" y="2039112"/>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P2 · 1:00–5:00</a:t>
            </a:r>
          </a:p>
        </p:txBody>
      </p:sp>
      <p:sp>
        <p:nvSpPr>
          <p:cNvPr id="13" name="Rounded Rectangle 12"/>
          <p:cNvSpPr/>
          <p:nvPr/>
        </p:nvSpPr>
        <p:spPr>
          <a:xfrm>
            <a:off x="548640" y="2551176"/>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3</a:t>
            </a:r>
          </a:p>
        </p:txBody>
      </p:sp>
      <p:sp>
        <p:nvSpPr>
          <p:cNvPr id="14" name="TextBox 13"/>
          <p:cNvSpPr txBox="1"/>
          <p:nvPr/>
        </p:nvSpPr>
        <p:spPr>
          <a:xfrm>
            <a:off x="1188720" y="2578608"/>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Operational processes</a:t>
            </a:r>
          </a:p>
        </p:txBody>
      </p:sp>
      <p:sp>
        <p:nvSpPr>
          <p:cNvPr id="15" name="TextBox 14"/>
          <p:cNvSpPr txBox="1"/>
          <p:nvPr/>
        </p:nvSpPr>
        <p:spPr>
          <a:xfrm>
            <a:off x="8778240" y="2606040"/>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P3 · 5:00–7:00</a:t>
            </a:r>
          </a:p>
        </p:txBody>
      </p:sp>
      <p:sp>
        <p:nvSpPr>
          <p:cNvPr id="16" name="Rounded Rectangle 15"/>
          <p:cNvSpPr/>
          <p:nvPr/>
        </p:nvSpPr>
        <p:spPr>
          <a:xfrm>
            <a:off x="548640" y="3118104"/>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4</a:t>
            </a:r>
          </a:p>
        </p:txBody>
      </p:sp>
      <p:sp>
        <p:nvSpPr>
          <p:cNvPr id="17" name="TextBox 16"/>
          <p:cNvSpPr txBox="1"/>
          <p:nvPr/>
        </p:nvSpPr>
        <p:spPr>
          <a:xfrm>
            <a:off x="1188720" y="3145536"/>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How we worked</a:t>
            </a:r>
          </a:p>
        </p:txBody>
      </p:sp>
      <p:sp>
        <p:nvSpPr>
          <p:cNvPr id="18" name="TextBox 17"/>
          <p:cNvSpPr txBox="1"/>
          <p:nvPr/>
        </p:nvSpPr>
        <p:spPr>
          <a:xfrm>
            <a:off x="8778240" y="3172968"/>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P4 · 7:00–10:30</a:t>
            </a:r>
          </a:p>
        </p:txBody>
      </p:sp>
      <p:sp>
        <p:nvSpPr>
          <p:cNvPr id="19" name="Rounded Rectangle 18"/>
          <p:cNvSpPr/>
          <p:nvPr/>
        </p:nvSpPr>
        <p:spPr>
          <a:xfrm>
            <a:off x="548640" y="3685032"/>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5</a:t>
            </a:r>
          </a:p>
        </p:txBody>
      </p:sp>
      <p:sp>
        <p:nvSpPr>
          <p:cNvPr id="20" name="TextBox 19"/>
          <p:cNvSpPr txBox="1"/>
          <p:nvPr/>
        </p:nvSpPr>
        <p:spPr>
          <a:xfrm>
            <a:off x="1188720" y="3712464"/>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What worked / what didn't</a:t>
            </a:r>
          </a:p>
        </p:txBody>
      </p:sp>
      <p:sp>
        <p:nvSpPr>
          <p:cNvPr id="21" name="TextBox 20"/>
          <p:cNvSpPr txBox="1"/>
          <p:nvPr/>
        </p:nvSpPr>
        <p:spPr>
          <a:xfrm>
            <a:off x="8778240" y="3739896"/>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P5 · 10:30–12:30</a:t>
            </a:r>
          </a:p>
        </p:txBody>
      </p:sp>
      <p:sp>
        <p:nvSpPr>
          <p:cNvPr id="22" name="Rounded Rectangle 21"/>
          <p:cNvSpPr/>
          <p:nvPr/>
        </p:nvSpPr>
        <p:spPr>
          <a:xfrm>
            <a:off x="548640" y="4251960"/>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6</a:t>
            </a:r>
          </a:p>
        </p:txBody>
      </p:sp>
      <p:sp>
        <p:nvSpPr>
          <p:cNvPr id="23" name="TextBox 22"/>
          <p:cNvSpPr txBox="1"/>
          <p:nvPr/>
        </p:nvSpPr>
        <p:spPr>
          <a:xfrm>
            <a:off x="1188720" y="4279392"/>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What we learned</a:t>
            </a:r>
          </a:p>
        </p:txBody>
      </p:sp>
      <p:sp>
        <p:nvSpPr>
          <p:cNvPr id="24" name="TextBox 23"/>
          <p:cNvSpPr txBox="1"/>
          <p:nvPr/>
        </p:nvSpPr>
        <p:spPr>
          <a:xfrm>
            <a:off x="8778240" y="4306824"/>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P1 · 12:30–14:00</a:t>
            </a:r>
          </a:p>
        </p:txBody>
      </p:sp>
      <p:sp>
        <p:nvSpPr>
          <p:cNvPr id="25" name="Rounded Rectangle 24"/>
          <p:cNvSpPr/>
          <p:nvPr/>
        </p:nvSpPr>
        <p:spPr>
          <a:xfrm>
            <a:off x="548640" y="4818888"/>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7</a:t>
            </a:r>
          </a:p>
        </p:txBody>
      </p:sp>
      <p:sp>
        <p:nvSpPr>
          <p:cNvPr id="26" name="TextBox 25"/>
          <p:cNvSpPr txBox="1"/>
          <p:nvPr/>
        </p:nvSpPr>
        <p:spPr>
          <a:xfrm>
            <a:off x="1188720" y="4846320"/>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Roadmap &amp; close</a:t>
            </a:r>
          </a:p>
        </p:txBody>
      </p:sp>
      <p:sp>
        <p:nvSpPr>
          <p:cNvPr id="27" name="TextBox 26"/>
          <p:cNvSpPr txBox="1"/>
          <p:nvPr/>
        </p:nvSpPr>
        <p:spPr>
          <a:xfrm>
            <a:off x="8778240" y="4873752"/>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P3 · 14:00–15:00</a:t>
            </a:r>
          </a:p>
        </p:txBody>
      </p:sp>
      <p:sp>
        <p:nvSpPr>
          <p:cNvPr id="28" name="Rounded Rectangle 27"/>
          <p:cNvSpPr/>
          <p:nvPr/>
        </p:nvSpPr>
        <p:spPr>
          <a:xfrm>
            <a:off x="548640" y="5385816"/>
            <a:ext cx="384048" cy="384048"/>
          </a:xfrm>
          <a:prstGeom prst="roundRect">
            <a:avLst>
              <a:gd name="adj" fmla="val 25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1400" b="1" i="0">
                <a:solidFill>
                  <a:srgbClr val="FFFFFF"/>
                </a:solidFill>
                <a:latin typeface="Segoe UI"/>
              </a:rPr>
              <a:t>8</a:t>
            </a:r>
          </a:p>
        </p:txBody>
      </p:sp>
      <p:sp>
        <p:nvSpPr>
          <p:cNvPr id="29" name="TextBox 28"/>
          <p:cNvSpPr txBox="1"/>
          <p:nvPr/>
        </p:nvSpPr>
        <p:spPr>
          <a:xfrm>
            <a:off x="1188720" y="5413248"/>
            <a:ext cx="7498079" cy="347472"/>
          </a:xfrm>
          <a:prstGeom prst="rect">
            <a:avLst/>
          </a:prstGeom>
          <a:noFill/>
        </p:spPr>
        <p:txBody>
          <a:bodyPr wrap="square" anchor="t" lIns="0" rIns="0" tIns="0" bIns="0">
            <a:spAutoFit/>
          </a:bodyPr>
          <a:lstStyle/>
          <a:p>
            <a:pPr algn="l">
              <a:lnSpc>
                <a:spcPct val="100000"/>
              </a:lnSpc>
              <a:spcAft>
                <a:spcPts val="400"/>
              </a:spcAft>
            </a:pPr>
            <a:r>
              <a:rPr sz="1450" b="1" i="0">
                <a:solidFill>
                  <a:srgbClr val="1F3864"/>
                </a:solidFill>
                <a:latin typeface="Segoe UI"/>
              </a:rPr>
              <a:t>Q&amp;A</a:t>
            </a:r>
          </a:p>
        </p:txBody>
      </p:sp>
      <p:sp>
        <p:nvSpPr>
          <p:cNvPr id="30" name="TextBox 29"/>
          <p:cNvSpPr txBox="1"/>
          <p:nvPr/>
        </p:nvSpPr>
        <p:spPr>
          <a:xfrm>
            <a:off x="8778240" y="5440680"/>
            <a:ext cx="2834640" cy="310896"/>
          </a:xfrm>
          <a:prstGeom prst="rect">
            <a:avLst/>
          </a:prstGeom>
          <a:noFill/>
        </p:spPr>
        <p:txBody>
          <a:bodyPr wrap="square" anchor="t" lIns="0" rIns="0" tIns="0" bIns="0">
            <a:spAutoFit/>
          </a:bodyPr>
          <a:lstStyle/>
          <a:p>
            <a:pPr algn="r">
              <a:lnSpc>
                <a:spcPct val="100000"/>
              </a:lnSpc>
              <a:spcAft>
                <a:spcPts val="400"/>
              </a:spcAft>
            </a:pPr>
            <a:r>
              <a:rPr sz="1100" b="0" i="0">
                <a:solidFill>
                  <a:srgbClr val="8A94A6"/>
                </a:solidFill>
                <a:latin typeface="Segoe UI"/>
              </a:rPr>
              <a:t>all · 15:00–20:00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1 · HOOK</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The ask — four stakeholder voices</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3</a:t>
            </a:r>
          </a:p>
        </p:txBody>
      </p:sp>
      <p:sp>
        <p:nvSpPr>
          <p:cNvPr id="7" name="Rounded Rectangle 6"/>
          <p:cNvSpPr/>
          <p:nvPr/>
        </p:nvSpPr>
        <p:spPr>
          <a:xfrm>
            <a:off x="548640" y="1371600"/>
            <a:ext cx="5440680" cy="212140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l">
              <a:lnSpc>
                <a:spcPct val="100000"/>
              </a:lnSpc>
              <a:spcAft>
                <a:spcPts val="800"/>
              </a:spcAft>
            </a:pPr>
            <a:r>
              <a:rPr sz="1400" b="1" i="0">
                <a:solidFill>
                  <a:srgbClr val="1F3864"/>
                </a:solidFill>
                <a:latin typeface="Segoe UI"/>
              </a:rPr>
              <a:t>Rohan  </a:t>
            </a:r>
            <a:r>
              <a:rPr sz="1050" b="0" i="0">
                <a:solidFill>
                  <a:srgbClr val="8A94A6"/>
                </a:solidFill>
                <a:latin typeface="Segoe UI"/>
              </a:rPr>
              <a:t>— Head of Product Development</a:t>
            </a:r>
          </a:p>
          <a:p>
            <a:pPr algn="l">
              <a:lnSpc>
                <a:spcPct val="100000"/>
              </a:lnSpc>
              <a:spcAft>
                <a:spcPts val="800"/>
              </a:spcAft>
            </a:pPr>
            <a:r>
              <a:rPr sz="1350" b="0" i="1">
                <a:solidFill>
                  <a:srgbClr val="333F50"/>
                </a:solidFill>
                <a:latin typeface="Segoe UI"/>
              </a:rPr>
              <a:t>“I want single-click trading.”</a:t>
            </a:r>
          </a:p>
        </p:txBody>
      </p:sp>
      <p:sp>
        <p:nvSpPr>
          <p:cNvPr id="8" name="Rounded Rectangle 7"/>
          <p:cNvSpPr/>
          <p:nvPr/>
        </p:nvSpPr>
        <p:spPr>
          <a:xfrm>
            <a:off x="6199632" y="1371600"/>
            <a:ext cx="5440680" cy="212140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l">
              <a:lnSpc>
                <a:spcPct val="100000"/>
              </a:lnSpc>
              <a:spcAft>
                <a:spcPts val="800"/>
              </a:spcAft>
            </a:pPr>
            <a:r>
              <a:rPr sz="1400" b="1" i="0">
                <a:solidFill>
                  <a:srgbClr val="1F3864"/>
                </a:solidFill>
                <a:latin typeface="Segoe UI"/>
              </a:rPr>
              <a:t>Tom &amp; Patricia  </a:t>
            </a:r>
            <a:r>
              <a:rPr sz="1050" b="0" i="0">
                <a:solidFill>
                  <a:srgbClr val="8A94A6"/>
                </a:solidFill>
                <a:latin typeface="Segoe UI"/>
              </a:rPr>
              <a:t>— our clients</a:t>
            </a:r>
          </a:p>
          <a:p>
            <a:pPr algn="l">
              <a:lnSpc>
                <a:spcPct val="100000"/>
              </a:lnSpc>
              <a:spcAft>
                <a:spcPts val="800"/>
              </a:spcAft>
            </a:pPr>
            <a:r>
              <a:rPr sz="1350" b="0" i="1">
                <a:solidFill>
                  <a:srgbClr val="333F50"/>
                </a:solidFill>
                <a:latin typeface="Segoe UI"/>
              </a:rPr>
              <a:t>“The current way is fine — don't make me learn another system. And stop sending me Excel.”</a:t>
            </a:r>
          </a:p>
        </p:txBody>
      </p:sp>
      <p:sp>
        <p:nvSpPr>
          <p:cNvPr id="9" name="Rounded Rectangle 8"/>
          <p:cNvSpPr/>
          <p:nvPr/>
        </p:nvSpPr>
        <p:spPr>
          <a:xfrm>
            <a:off x="548640" y="3675888"/>
            <a:ext cx="5440680" cy="212140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l">
              <a:lnSpc>
                <a:spcPct val="100000"/>
              </a:lnSpc>
              <a:spcAft>
                <a:spcPts val="800"/>
              </a:spcAft>
            </a:pPr>
            <a:r>
              <a:rPr sz="1400" b="1" i="0">
                <a:solidFill>
                  <a:srgbClr val="1F3864"/>
                </a:solidFill>
                <a:latin typeface="Segoe UI"/>
              </a:rPr>
              <a:t>Nora  </a:t>
            </a:r>
            <a:r>
              <a:rPr sz="1050" b="0" i="0">
                <a:solidFill>
                  <a:srgbClr val="8A94A6"/>
                </a:solidFill>
                <a:latin typeface="Segoe UI"/>
              </a:rPr>
              <a:t>— the developer who maintains today's batch system</a:t>
            </a:r>
          </a:p>
          <a:p>
            <a:pPr algn="l">
              <a:lnSpc>
                <a:spcPct val="100000"/>
              </a:lnSpc>
              <a:spcAft>
                <a:spcPts val="800"/>
              </a:spcAft>
            </a:pPr>
            <a:r>
              <a:rPr sz="1350" b="0" i="1">
                <a:solidFill>
                  <a:srgbClr val="333F50"/>
                </a:solidFill>
                <a:latin typeface="Segoe UI"/>
              </a:rPr>
              <a:t>“Why rebuild what we already have? Real-time is doable, but challenging.”</a:t>
            </a:r>
          </a:p>
        </p:txBody>
      </p:sp>
      <p:sp>
        <p:nvSpPr>
          <p:cNvPr id="10" name="Rounded Rectangle 9"/>
          <p:cNvSpPr/>
          <p:nvPr/>
        </p:nvSpPr>
        <p:spPr>
          <a:xfrm>
            <a:off x="6199632" y="3675888"/>
            <a:ext cx="5440680" cy="212140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bIns="164592"/>
          <a:lstStyle/>
          <a:p>
            <a:pPr algn="l">
              <a:lnSpc>
                <a:spcPct val="100000"/>
              </a:lnSpc>
              <a:spcAft>
                <a:spcPts val="800"/>
              </a:spcAft>
            </a:pPr>
            <a:r>
              <a:rPr sz="1400" b="1" i="0">
                <a:solidFill>
                  <a:srgbClr val="1F3864"/>
                </a:solidFill>
                <a:latin typeface="Segoe UI"/>
              </a:rPr>
              <a:t>Roy  </a:t>
            </a:r>
            <a:r>
              <a:rPr sz="1050" b="0" i="0">
                <a:solidFill>
                  <a:srgbClr val="8A94A6"/>
                </a:solidFill>
                <a:latin typeface="Segoe UI"/>
              </a:rPr>
              <a:t>— our CTO</a:t>
            </a:r>
          </a:p>
          <a:p>
            <a:pPr algn="l">
              <a:lnSpc>
                <a:spcPct val="100000"/>
              </a:lnSpc>
              <a:spcAft>
                <a:spcPts val="800"/>
              </a:spcAft>
            </a:pPr>
            <a:r>
              <a:rPr sz="1350" b="0" i="1">
                <a:solidFill>
                  <a:srgbClr val="333F50"/>
                </a:solidFill>
                <a:latin typeface="Segoe UI"/>
              </a:rPr>
              <a:t>“Security, operations, SRE — DevSecOps from day one, or don't build it at all.”</a:t>
            </a:r>
          </a:p>
        </p:txBody>
      </p:sp>
      <p:sp>
        <p:nvSpPr>
          <p:cNvPr id="11" name="Rounded Rectangle 10"/>
          <p:cNvSpPr/>
          <p:nvPr/>
        </p:nvSpPr>
        <p:spPr>
          <a:xfrm>
            <a:off x="548640" y="5943600"/>
            <a:ext cx="11094720" cy="50292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250" b="1" i="1">
                <a:solidFill>
                  <a:srgbClr val="1F3864"/>
                </a:solidFill>
                <a:latin typeface="Segoe UI"/>
              </a:rPr>
              <a:t>Everything you're about to see is our answer to those four sentences — hold us to it at the 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2 · WHAT WE BUILT</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Goals &amp; success criteria</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4</a:t>
            </a:r>
          </a:p>
        </p:txBody>
      </p:sp>
      <p:sp>
        <p:nvSpPr>
          <p:cNvPr id="7" name="TextBox 6"/>
          <p:cNvSpPr txBox="1"/>
          <p:nvPr/>
        </p:nvSpPr>
        <p:spPr>
          <a:xfrm>
            <a:off x="548640" y="1298448"/>
            <a:ext cx="5394960" cy="274320"/>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THE BRIEF — FIVE CORE MODULES</a:t>
            </a:r>
          </a:p>
        </p:txBody>
      </p:sp>
      <p:sp>
        <p:nvSpPr>
          <p:cNvPr id="8" name="Rounded Rectangle 7"/>
          <p:cNvSpPr/>
          <p:nvPr/>
        </p:nvSpPr>
        <p:spPr>
          <a:xfrm>
            <a:off x="548640" y="1664208"/>
            <a:ext cx="5394960" cy="65836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350" b="1" i="0">
                <a:solidFill>
                  <a:srgbClr val="1F3864"/>
                </a:solidFill>
                <a:latin typeface="Segoe UI"/>
              </a:rPr>
              <a:t>Order Execution</a:t>
            </a:r>
          </a:p>
        </p:txBody>
      </p:sp>
      <p:sp>
        <p:nvSpPr>
          <p:cNvPr id="9" name="Rounded Rectangle 8"/>
          <p:cNvSpPr/>
          <p:nvPr/>
        </p:nvSpPr>
        <p:spPr>
          <a:xfrm>
            <a:off x="548640" y="2450592"/>
            <a:ext cx="5394960" cy="65836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350" b="1" i="0">
                <a:solidFill>
                  <a:srgbClr val="1F3864"/>
                </a:solidFill>
                <a:latin typeface="Segoe UI"/>
              </a:rPr>
              <a:t>Portfolio Management</a:t>
            </a:r>
          </a:p>
        </p:txBody>
      </p:sp>
      <p:sp>
        <p:nvSpPr>
          <p:cNvPr id="10" name="Rounded Rectangle 9"/>
          <p:cNvSpPr/>
          <p:nvPr/>
        </p:nvSpPr>
        <p:spPr>
          <a:xfrm>
            <a:off x="548640" y="3236976"/>
            <a:ext cx="5394960" cy="65836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350" b="1" i="0">
                <a:solidFill>
                  <a:srgbClr val="1F3864"/>
                </a:solidFill>
                <a:latin typeface="Segoe UI"/>
              </a:rPr>
              <a:t>Reporting &amp; Charting</a:t>
            </a:r>
          </a:p>
        </p:txBody>
      </p:sp>
      <p:sp>
        <p:nvSpPr>
          <p:cNvPr id="11" name="Rounded Rectangle 10"/>
          <p:cNvSpPr/>
          <p:nvPr/>
        </p:nvSpPr>
        <p:spPr>
          <a:xfrm>
            <a:off x="548640" y="4023360"/>
            <a:ext cx="5394960" cy="65836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350" b="1" i="0">
                <a:solidFill>
                  <a:srgbClr val="1F3864"/>
                </a:solidFill>
                <a:latin typeface="Segoe UI"/>
              </a:rPr>
              <a:t>Technical Analytics</a:t>
            </a:r>
          </a:p>
        </p:txBody>
      </p:sp>
      <p:sp>
        <p:nvSpPr>
          <p:cNvPr id="12" name="Rounded Rectangle 11"/>
          <p:cNvSpPr/>
          <p:nvPr/>
        </p:nvSpPr>
        <p:spPr>
          <a:xfrm>
            <a:off x="548640" y="4809744"/>
            <a:ext cx="5394960" cy="65836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350" b="1" i="0">
                <a:solidFill>
                  <a:srgbClr val="1F3864"/>
                </a:solidFill>
                <a:latin typeface="Segoe UI"/>
              </a:rPr>
              <a:t>Paper Trading</a:t>
            </a:r>
          </a:p>
        </p:txBody>
      </p:sp>
      <p:sp>
        <p:nvSpPr>
          <p:cNvPr id="13" name="Rounded Rectangle 12"/>
          <p:cNvSpPr/>
          <p:nvPr/>
        </p:nvSpPr>
        <p:spPr>
          <a:xfrm>
            <a:off x="6263640" y="1664208"/>
            <a:ext cx="5376672" cy="13716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500"/>
              </a:spcAft>
            </a:pPr>
            <a:r>
              <a:rPr sz="1350" b="1" i="0">
                <a:solidFill>
                  <a:srgbClr val="1F3864"/>
                </a:solidFill>
                <a:latin typeface="Segoe UI"/>
              </a:rPr>
              <a:t>On a DevSecOps foundation</a:t>
            </a:r>
          </a:p>
          <a:p>
            <a:pPr algn="l">
              <a:lnSpc>
                <a:spcPct val="100000"/>
              </a:lnSpc>
              <a:spcAft>
                <a:spcPts val="500"/>
              </a:spcAft>
            </a:pPr>
            <a:r>
              <a:rPr sz="1150" b="0" i="0">
                <a:solidFill>
                  <a:srgbClr val="333F50"/>
                </a:solidFill>
                <a:latin typeface="Segoe UI"/>
              </a:rPr>
              <a:t>SSO-style auth, deny-by-default RBAC, tamper-evident audit, secrets behind a provider abstraction.</a:t>
            </a:r>
          </a:p>
        </p:txBody>
      </p:sp>
      <p:sp>
        <p:nvSpPr>
          <p:cNvPr id="14" name="Rounded Rectangle 13"/>
          <p:cNvSpPr/>
          <p:nvPr/>
        </p:nvSpPr>
        <p:spPr>
          <a:xfrm>
            <a:off x="6263640" y="3218688"/>
            <a:ext cx="5376672" cy="13716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500"/>
              </a:spcAft>
            </a:pPr>
            <a:r>
              <a:rPr sz="1350" b="1" i="0">
                <a:solidFill>
                  <a:srgbClr val="1F3864"/>
                </a:solidFill>
                <a:latin typeface="Segoe UI"/>
              </a:rPr>
              <a:t>Using the program's simulation dataset</a:t>
            </a:r>
          </a:p>
          <a:p>
            <a:pPr algn="l">
              <a:lnSpc>
                <a:spcPct val="100000"/>
              </a:lnSpc>
              <a:spcAft>
                <a:spcPts val="500"/>
              </a:spcAft>
            </a:pPr>
            <a:r>
              <a:rPr sz="1150" b="0" i="0">
                <a:solidFill>
                  <a:srgbClr val="333F50"/>
                </a:solidFill>
                <a:latin typeface="Segoe UI"/>
              </a:rPr>
              <a:t>Replayed market data — nothing in the system knows the data is simulated.</a:t>
            </a:r>
          </a:p>
        </p:txBody>
      </p:sp>
      <p:sp>
        <p:nvSpPr>
          <p:cNvPr id="15" name="Rounded Rectangle 14"/>
          <p:cNvSpPr/>
          <p:nvPr/>
        </p:nvSpPr>
        <p:spPr>
          <a:xfrm>
            <a:off x="6263640" y="4773168"/>
            <a:ext cx="5376672" cy="141732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500"/>
              </a:spcAft>
            </a:pPr>
            <a:r>
              <a:rPr sz="1350" b="1" i="0">
                <a:solidFill>
                  <a:srgbClr val="1F3864"/>
                </a:solidFill>
                <a:latin typeface="Segoe UI"/>
              </a:rPr>
              <a:t>Our success bar</a:t>
            </a:r>
          </a:p>
          <a:p>
            <a:pPr algn="l">
              <a:lnSpc>
                <a:spcPct val="100000"/>
              </a:lnSpc>
              <a:spcAft>
                <a:spcPts val="500"/>
              </a:spcAft>
            </a:pPr>
            <a:r>
              <a:rPr sz="1250" b="1" i="0">
                <a:solidFill>
                  <a:srgbClr val="333F50"/>
                </a:solidFill>
                <a:latin typeface="Segoe UI"/>
              </a:rPr>
              <a:t>An order settles with no manual step — and every action is authorized and auditable.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2 · WHAT WE BUILT</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Platform overview — five modules + governance spine</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5</a:t>
            </a:r>
          </a:p>
        </p:txBody>
      </p:sp>
      <p:sp>
        <p:nvSpPr>
          <p:cNvPr id="7" name="Rounded Rectangle 6"/>
          <p:cNvSpPr/>
          <p:nvPr/>
        </p:nvSpPr>
        <p:spPr>
          <a:xfrm>
            <a:off x="548640" y="1371600"/>
            <a:ext cx="2084831"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500"/>
              </a:spcAft>
            </a:pPr>
            <a:r>
              <a:rPr sz="1200" b="1" i="0">
                <a:solidFill>
                  <a:srgbClr val="1F3864"/>
                </a:solidFill>
                <a:latin typeface="Segoe UI"/>
              </a:rPr>
              <a:t>Order Execution &amp; STP</a:t>
            </a:r>
          </a:p>
          <a:p>
            <a:pPr algn="l">
              <a:lnSpc>
                <a:spcPct val="100000"/>
              </a:lnSpc>
              <a:spcAft>
                <a:spcPts val="500"/>
              </a:spcAft>
            </a:pPr>
            <a:r>
              <a:rPr sz="1000" b="0" i="0">
                <a:solidFill>
                  <a:srgbClr val="8A94A6"/>
                </a:solidFill>
                <a:latin typeface="Segoe UI"/>
              </a:rPr>
              <a:t>Ticket to settlement, zero manual steps</a:t>
            </a:r>
          </a:p>
        </p:txBody>
      </p:sp>
      <p:sp>
        <p:nvSpPr>
          <p:cNvPr id="8" name="Rounded Rectangle 7"/>
          <p:cNvSpPr/>
          <p:nvPr/>
        </p:nvSpPr>
        <p:spPr>
          <a:xfrm>
            <a:off x="2807207" y="1371600"/>
            <a:ext cx="2084831"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500"/>
              </a:spcAft>
            </a:pPr>
            <a:r>
              <a:rPr sz="1200" b="1" i="0">
                <a:solidFill>
                  <a:srgbClr val="1F3864"/>
                </a:solidFill>
                <a:latin typeface="Segoe UI"/>
              </a:rPr>
              <a:t>Portfolio Management</a:t>
            </a:r>
          </a:p>
          <a:p>
            <a:pPr algn="l">
              <a:lnSpc>
                <a:spcPct val="100000"/>
              </a:lnSpc>
              <a:spcAft>
                <a:spcPts val="500"/>
              </a:spcAft>
            </a:pPr>
            <a:r>
              <a:rPr sz="1000" b="0" i="0">
                <a:solidFill>
                  <a:srgbClr val="8A94A6"/>
                </a:solidFill>
                <a:latin typeface="Segoe UI"/>
              </a:rPr>
              <a:t>Positions, valuation, KPIs, live marks</a:t>
            </a:r>
          </a:p>
        </p:txBody>
      </p:sp>
      <p:sp>
        <p:nvSpPr>
          <p:cNvPr id="9" name="Rounded Rectangle 8"/>
          <p:cNvSpPr/>
          <p:nvPr/>
        </p:nvSpPr>
        <p:spPr>
          <a:xfrm>
            <a:off x="5065774" y="1371600"/>
            <a:ext cx="2084831"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500"/>
              </a:spcAft>
            </a:pPr>
            <a:r>
              <a:rPr sz="1200" b="1" i="0">
                <a:solidFill>
                  <a:srgbClr val="1F3864"/>
                </a:solidFill>
                <a:latin typeface="Segoe UI"/>
              </a:rPr>
              <a:t>Reporting &amp; Charting</a:t>
            </a:r>
          </a:p>
          <a:p>
            <a:pPr algn="l">
              <a:lnSpc>
                <a:spcPct val="100000"/>
              </a:lnSpc>
              <a:spcAft>
                <a:spcPts val="500"/>
              </a:spcAft>
            </a:pPr>
            <a:r>
              <a:rPr sz="1000" b="0" i="0">
                <a:solidFill>
                  <a:srgbClr val="8A94A6"/>
                </a:solidFill>
                <a:latin typeface="Segoe UI"/>
              </a:rPr>
              <a:t>ECharts candles + indicators; PDF/CSV reports</a:t>
            </a:r>
          </a:p>
        </p:txBody>
      </p:sp>
      <p:sp>
        <p:nvSpPr>
          <p:cNvPr id="10" name="Rounded Rectangle 9"/>
          <p:cNvSpPr/>
          <p:nvPr/>
        </p:nvSpPr>
        <p:spPr>
          <a:xfrm>
            <a:off x="7324341" y="1371600"/>
            <a:ext cx="2084831"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500"/>
              </a:spcAft>
            </a:pPr>
            <a:r>
              <a:rPr sz="1200" b="1" i="0">
                <a:solidFill>
                  <a:srgbClr val="1F3864"/>
                </a:solidFill>
                <a:latin typeface="Segoe UI"/>
              </a:rPr>
              <a:t>Technical Analytics</a:t>
            </a:r>
          </a:p>
          <a:p>
            <a:pPr algn="l">
              <a:lnSpc>
                <a:spcPct val="100000"/>
              </a:lnSpc>
              <a:spcAft>
                <a:spcPts val="500"/>
              </a:spcAft>
            </a:pPr>
            <a:r>
              <a:rPr sz="1000" b="0" i="0">
                <a:solidFill>
                  <a:srgbClr val="8A94A6"/>
                </a:solidFill>
                <a:latin typeface="Segoe UI"/>
              </a:rPr>
              <a:t>SMA/EMA/RSI/MACD/Bollinger; price alerts</a:t>
            </a:r>
          </a:p>
        </p:txBody>
      </p:sp>
      <p:sp>
        <p:nvSpPr>
          <p:cNvPr id="11" name="Rounded Rectangle 10"/>
          <p:cNvSpPr/>
          <p:nvPr/>
        </p:nvSpPr>
        <p:spPr>
          <a:xfrm>
            <a:off x="9582908" y="1371600"/>
            <a:ext cx="2084831"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500"/>
              </a:spcAft>
            </a:pPr>
            <a:r>
              <a:rPr sz="1200" b="1" i="0">
                <a:solidFill>
                  <a:srgbClr val="1F3864"/>
                </a:solidFill>
                <a:latin typeface="Segoe UI"/>
              </a:rPr>
              <a:t>Paper Trading</a:t>
            </a:r>
          </a:p>
          <a:p>
            <a:pPr algn="l">
              <a:lnSpc>
                <a:spcPct val="100000"/>
              </a:lnSpc>
              <a:spcAft>
                <a:spcPts val="500"/>
              </a:spcAft>
            </a:pPr>
            <a:r>
              <a:rPr sz="1000" b="0" i="0">
                <a:solidFill>
                  <a:srgbClr val="8A94A6"/>
                </a:solidFill>
                <a:latin typeface="Segoe UI"/>
              </a:rPr>
              <a:t>Same pipeline as real trading — PAPER flag</a:t>
            </a:r>
          </a:p>
        </p:txBody>
      </p:sp>
      <p:sp>
        <p:nvSpPr>
          <p:cNvPr id="12" name="Rounded Rectangle 11"/>
          <p:cNvSpPr/>
          <p:nvPr/>
        </p:nvSpPr>
        <p:spPr>
          <a:xfrm>
            <a:off x="548640" y="3090672"/>
            <a:ext cx="11094720" cy="658368"/>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200"/>
              </a:spcAft>
            </a:pPr>
            <a:r>
              <a:rPr sz="1100" b="1" i="0">
                <a:solidFill>
                  <a:srgbClr val="FFFFFF"/>
                </a:solidFill>
                <a:latin typeface="Segoe UI"/>
              </a:rPr>
              <a:t>GOVERNANCE SPINE   </a:t>
            </a:r>
            <a:r>
              <a:rPr sz="1150" b="0" i="0">
                <a:solidFill>
                  <a:srgbClr val="FFFFFF"/>
                </a:solidFill>
                <a:latin typeface="Segoe UI"/>
              </a:rPr>
              <a:t>deny-by-default RBAC  ·  just-in-time access  ·  break-glass (4 h)  ·  hash-chained audit trail</a:t>
            </a:r>
          </a:p>
        </p:txBody>
      </p:sp>
      <p:sp>
        <p:nvSpPr>
          <p:cNvPr id="13" name="Rounded Rectangle 12"/>
          <p:cNvSpPr/>
          <p:nvPr/>
        </p:nvSpPr>
        <p:spPr>
          <a:xfrm>
            <a:off x="548640" y="4041648"/>
            <a:ext cx="3575304" cy="786384"/>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200"/>
              </a:spcAft>
            </a:pPr>
            <a:r>
              <a:rPr sz="1100" b="0" i="0">
                <a:solidFill>
                  <a:srgbClr val="333F50"/>
                </a:solidFill>
                <a:latin typeface="Segoe UI"/>
              </a:rPr>
              <a:t>11 instruments — 7 dataset equities + 4 bonds the business asked for</a:t>
            </a:r>
          </a:p>
        </p:txBody>
      </p:sp>
      <p:sp>
        <p:nvSpPr>
          <p:cNvPr id="14" name="Rounded Rectangle 13"/>
          <p:cNvSpPr/>
          <p:nvPr/>
        </p:nvSpPr>
        <p:spPr>
          <a:xfrm>
            <a:off x="4306824" y="4041648"/>
            <a:ext cx="3575304" cy="786384"/>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200"/>
              </a:spcAft>
            </a:pPr>
            <a:r>
              <a:rPr sz="1100" b="0" i="0">
                <a:solidFill>
                  <a:srgbClr val="333F50"/>
                </a:solidFill>
                <a:latin typeface="Segoe UI"/>
              </a:rPr>
              <a:t>5 order types + time-in-force + trailing stops</a:t>
            </a:r>
          </a:p>
        </p:txBody>
      </p:sp>
      <p:sp>
        <p:nvSpPr>
          <p:cNvPr id="15" name="Rounded Rectangle 14"/>
          <p:cNvSpPr/>
          <p:nvPr/>
        </p:nvSpPr>
        <p:spPr>
          <a:xfrm>
            <a:off x="8065008" y="4041648"/>
            <a:ext cx="3575304" cy="786384"/>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200"/>
              </a:spcAft>
            </a:pPr>
            <a:r>
              <a:rPr sz="1100" b="0" i="0">
                <a:solidFill>
                  <a:srgbClr val="333F50"/>
                </a:solidFill>
                <a:latin typeface="Segoe UI"/>
              </a:rPr>
              <a:t>Price alerts with evaluator</a:t>
            </a:r>
          </a:p>
        </p:txBody>
      </p:sp>
      <p:sp>
        <p:nvSpPr>
          <p:cNvPr id="16" name="Rounded Rectangle 15"/>
          <p:cNvSpPr/>
          <p:nvPr/>
        </p:nvSpPr>
        <p:spPr>
          <a:xfrm>
            <a:off x="548640" y="4974336"/>
            <a:ext cx="3575304" cy="786384"/>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200"/>
              </a:spcAft>
            </a:pPr>
            <a:r>
              <a:rPr sz="1100" b="0" i="0">
                <a:solidFill>
                  <a:srgbClr val="333F50"/>
                </a:solidFill>
                <a:latin typeface="Segoe UI"/>
              </a:rPr>
              <a:t>Scheduled PDF/CSV reports</a:t>
            </a:r>
          </a:p>
        </p:txBody>
      </p:sp>
      <p:sp>
        <p:nvSpPr>
          <p:cNvPr id="17" name="Rounded Rectangle 16"/>
          <p:cNvSpPr/>
          <p:nvPr/>
        </p:nvSpPr>
        <p:spPr>
          <a:xfrm>
            <a:off x="4306824" y="4974336"/>
            <a:ext cx="3575304" cy="786384"/>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200"/>
              </a:spcAft>
            </a:pPr>
            <a:r>
              <a:rPr sz="1100" b="0" i="0">
                <a:solidFill>
                  <a:srgbClr val="333F50"/>
                </a:solidFill>
                <a:latin typeface="Segoe UI"/>
              </a:rPr>
              <a:t>Paper trading on the same code path</a:t>
            </a:r>
          </a:p>
        </p:txBody>
      </p:sp>
      <p:sp>
        <p:nvSpPr>
          <p:cNvPr id="18" name="Rounded Rectangle 17"/>
          <p:cNvSpPr/>
          <p:nvPr/>
        </p:nvSpPr>
        <p:spPr>
          <a:xfrm>
            <a:off x="8065008" y="4974336"/>
            <a:ext cx="3575304" cy="786384"/>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0000"/>
              </a:lnSpc>
              <a:spcAft>
                <a:spcPts val="200"/>
              </a:spcAft>
            </a:pPr>
            <a:r>
              <a:rPr sz="1100" b="0" i="0">
                <a:solidFill>
                  <a:srgbClr val="333F50"/>
                </a:solidFill>
                <a:latin typeface="Segoe UI"/>
              </a:rPr>
              <a:t>GenAI assistant — grounded, advisory-only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2 · WHAT WE BUILT</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Architecture — one deployable, event-driven inside</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6</a:t>
            </a:r>
          </a:p>
        </p:txBody>
      </p:sp>
      <p:sp>
        <p:nvSpPr>
          <p:cNvPr id="7" name="Rounded Rectangle 6"/>
          <p:cNvSpPr/>
          <p:nvPr/>
        </p:nvSpPr>
        <p:spPr>
          <a:xfrm>
            <a:off x="548640" y="2514600"/>
            <a:ext cx="1783080" cy="1325880"/>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pPr>
            <a:r>
              <a:rPr sz="1300" b="1" i="0">
                <a:solidFill>
                  <a:srgbClr val="1F3864"/>
                </a:solidFill>
                <a:latin typeface="Segoe UI"/>
              </a:rPr>
              <a:t>React SPA</a:t>
            </a:r>
          </a:p>
          <a:p>
            <a:pPr algn="ctr">
              <a:lnSpc>
                <a:spcPct val="100000"/>
              </a:lnSpc>
              <a:spcAft>
                <a:spcPts val="300"/>
              </a:spcAft>
            </a:pPr>
            <a:r>
              <a:rPr sz="950" b="0" i="0">
                <a:solidFill>
                  <a:srgbClr val="8A94A6"/>
                </a:solidFill>
                <a:latin typeface="Segoe UI"/>
              </a:rPr>
              <a:t>Vite · TypeScript</a:t>
            </a:r>
          </a:p>
          <a:p>
            <a:pPr algn="ctr">
              <a:lnSpc>
                <a:spcPct val="100000"/>
              </a:lnSpc>
              <a:spcAft>
                <a:spcPts val="300"/>
              </a:spcAft>
            </a:pPr>
            <a:r>
              <a:rPr sz="950" b="0" i="0">
                <a:solidFill>
                  <a:srgbClr val="8A94A6"/>
                </a:solidFill>
                <a:latin typeface="Segoe UI"/>
              </a:rPr>
              <a:t>dark trading-terminal UI</a:t>
            </a:r>
          </a:p>
        </p:txBody>
      </p:sp>
      <p:cxnSp>
        <p:nvCxnSpPr>
          <p:cNvPr id="8" name="Connector 7"/>
          <p:cNvCxnSpPr/>
          <p:nvPr/>
        </p:nvCxnSpPr>
        <p:spPr>
          <a:xfrm>
            <a:off x="2331720" y="3172968"/>
            <a:ext cx="667512" cy="0"/>
          </a:xfrm>
          <a:prstGeom prst="line">
            <a:avLst/>
          </a:prstGeom>
          <a:ln w="22225">
            <a:solidFill>
              <a:srgbClr val="2962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920240" y="2816352"/>
            <a:ext cx="1463040" cy="274320"/>
          </a:xfrm>
          <a:prstGeom prst="rect">
            <a:avLst/>
          </a:prstGeom>
          <a:noFill/>
        </p:spPr>
        <p:txBody>
          <a:bodyPr wrap="square" anchor="t" lIns="0" rIns="0" tIns="0" bIns="0">
            <a:spAutoFit/>
          </a:bodyPr>
          <a:lstStyle/>
          <a:p>
            <a:pPr algn="ctr">
              <a:lnSpc>
                <a:spcPct val="100000"/>
              </a:lnSpc>
              <a:spcAft>
                <a:spcPts val="400"/>
              </a:spcAft>
            </a:pPr>
            <a:r>
              <a:rPr sz="900" b="1" i="0">
                <a:solidFill>
                  <a:srgbClr val="8A94A6"/>
                </a:solidFill>
                <a:latin typeface="Segoe UI"/>
              </a:rPr>
              <a:t>REST · WS</a:t>
            </a:r>
          </a:p>
        </p:txBody>
      </p:sp>
      <p:sp>
        <p:nvSpPr>
          <p:cNvPr id="10" name="Rounded Rectangle 9"/>
          <p:cNvSpPr/>
          <p:nvPr/>
        </p:nvSpPr>
        <p:spPr>
          <a:xfrm>
            <a:off x="3017520" y="1371600"/>
            <a:ext cx="5486400" cy="361188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ctr">
              <a:lnSpc>
                <a:spcPct val="100000"/>
              </a:lnSpc>
              <a:spcAft>
                <a:spcPts val="200"/>
              </a:spcAft>
            </a:pPr>
            <a:r>
              <a:rPr sz="1250" b="1" i="0">
                <a:solidFill>
                  <a:srgbClr val="1F3864"/>
                </a:solidFill>
                <a:latin typeface="Segoe UI"/>
              </a:rPr>
              <a:t>FastAPI modular monolith — 16 modules · one deployable</a:t>
            </a:r>
          </a:p>
        </p:txBody>
      </p:sp>
      <p:sp>
        <p:nvSpPr>
          <p:cNvPr id="11" name="Rounded Rectangle 10"/>
          <p:cNvSpPr/>
          <p:nvPr/>
        </p:nvSpPr>
        <p:spPr>
          <a:xfrm>
            <a:off x="3218688" y="1920240"/>
            <a:ext cx="1207008" cy="457200"/>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100000"/>
              </a:lnSpc>
              <a:spcAft>
                <a:spcPts val="200"/>
              </a:spcAft>
            </a:pPr>
            <a:r>
              <a:rPr sz="950" b="0" i="0">
                <a:solidFill>
                  <a:srgbClr val="333F50"/>
                </a:solidFill>
                <a:latin typeface="Segoe UI"/>
              </a:rPr>
              <a:t>orders</a:t>
            </a:r>
          </a:p>
        </p:txBody>
      </p:sp>
      <p:sp>
        <p:nvSpPr>
          <p:cNvPr id="12" name="Rounded Rectangle 11"/>
          <p:cNvSpPr/>
          <p:nvPr/>
        </p:nvSpPr>
        <p:spPr>
          <a:xfrm>
            <a:off x="4535424" y="1920240"/>
            <a:ext cx="1207008" cy="457200"/>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100000"/>
              </a:lnSpc>
              <a:spcAft>
                <a:spcPts val="200"/>
              </a:spcAft>
            </a:pPr>
            <a:r>
              <a:rPr sz="950" b="0" i="0">
                <a:solidFill>
                  <a:srgbClr val="333F50"/>
                </a:solidFill>
                <a:latin typeface="Segoe UI"/>
              </a:rPr>
              <a:t>portfolios</a:t>
            </a:r>
          </a:p>
        </p:txBody>
      </p:sp>
      <p:sp>
        <p:nvSpPr>
          <p:cNvPr id="13" name="Rounded Rectangle 12"/>
          <p:cNvSpPr/>
          <p:nvPr/>
        </p:nvSpPr>
        <p:spPr>
          <a:xfrm>
            <a:off x="5852160" y="1920240"/>
            <a:ext cx="1207008" cy="457200"/>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100000"/>
              </a:lnSpc>
              <a:spcAft>
                <a:spcPts val="200"/>
              </a:spcAft>
            </a:pPr>
            <a:r>
              <a:rPr sz="950" b="0" i="0">
                <a:solidFill>
                  <a:srgbClr val="333F50"/>
                </a:solidFill>
                <a:latin typeface="Segoe UI"/>
              </a:rPr>
              <a:t>marketdata</a:t>
            </a:r>
          </a:p>
        </p:txBody>
      </p:sp>
      <p:sp>
        <p:nvSpPr>
          <p:cNvPr id="14" name="Rounded Rectangle 13"/>
          <p:cNvSpPr/>
          <p:nvPr/>
        </p:nvSpPr>
        <p:spPr>
          <a:xfrm>
            <a:off x="7168896" y="1920240"/>
            <a:ext cx="1207008" cy="457200"/>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100000"/>
              </a:lnSpc>
              <a:spcAft>
                <a:spcPts val="200"/>
              </a:spcAft>
            </a:pPr>
            <a:r>
              <a:rPr sz="950" b="0" i="0">
                <a:solidFill>
                  <a:srgbClr val="333F50"/>
                </a:solidFill>
                <a:latin typeface="Segoe UI"/>
              </a:rPr>
              <a:t>+ 12 more</a:t>
            </a:r>
          </a:p>
        </p:txBody>
      </p:sp>
      <p:sp>
        <p:nvSpPr>
          <p:cNvPr id="15" name="Rounded Rectangle 14"/>
          <p:cNvSpPr/>
          <p:nvPr/>
        </p:nvSpPr>
        <p:spPr>
          <a:xfrm>
            <a:off x="3218688" y="2743200"/>
            <a:ext cx="1170432" cy="91440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spcAft>
                <a:spcPts val="0"/>
              </a:spcAft>
            </a:pPr>
            <a:r>
              <a:rPr sz="1000" b="1" i="0">
                <a:solidFill>
                  <a:srgbClr val="1F3864"/>
                </a:solidFill>
                <a:latin typeface="Segoe UI"/>
              </a:rPr>
              <a:t>Transactional</a:t>
            </a:r>
          </a:p>
          <a:p>
            <a:pPr algn="ctr">
              <a:lnSpc>
                <a:spcPct val="100000"/>
              </a:lnSpc>
              <a:spcAft>
                <a:spcPts val="0"/>
              </a:spcAft>
            </a:pPr>
            <a:r>
              <a:rPr sz="1000" b="1" i="0">
                <a:solidFill>
                  <a:srgbClr val="1F3864"/>
                </a:solidFill>
                <a:latin typeface="Segoe UI"/>
              </a:rPr>
              <a:t>outbox</a:t>
            </a:r>
          </a:p>
        </p:txBody>
      </p:sp>
      <p:cxnSp>
        <p:nvCxnSpPr>
          <p:cNvPr id="16" name="Connector 15"/>
          <p:cNvCxnSpPr/>
          <p:nvPr/>
        </p:nvCxnSpPr>
        <p:spPr>
          <a:xfrm>
            <a:off x="4389120" y="3200400"/>
            <a:ext cx="146304" cy="0"/>
          </a:xfrm>
          <a:prstGeom prst="line">
            <a:avLst/>
          </a:prstGeom>
          <a:ln w="15875">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35424" y="2743200"/>
            <a:ext cx="1170432" cy="91440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spcAft>
                <a:spcPts val="0"/>
              </a:spcAft>
            </a:pPr>
            <a:r>
              <a:rPr sz="1000" b="1" i="0">
                <a:solidFill>
                  <a:srgbClr val="1F3864"/>
                </a:solidFill>
                <a:latin typeface="Segoe UI"/>
              </a:rPr>
              <a:t>Execution</a:t>
            </a:r>
          </a:p>
          <a:p>
            <a:pPr algn="ctr">
              <a:lnSpc>
                <a:spcPct val="100000"/>
              </a:lnSpc>
              <a:spcAft>
                <a:spcPts val="0"/>
              </a:spcAft>
            </a:pPr>
            <a:r>
              <a:rPr sz="1000" b="1" i="0">
                <a:solidFill>
                  <a:srgbClr val="1F3864"/>
                </a:solidFill>
                <a:latin typeface="Segoe UI"/>
              </a:rPr>
              <a:t>engine</a:t>
            </a:r>
          </a:p>
        </p:txBody>
      </p:sp>
      <p:cxnSp>
        <p:nvCxnSpPr>
          <p:cNvPr id="18" name="Connector 17"/>
          <p:cNvCxnSpPr/>
          <p:nvPr/>
        </p:nvCxnSpPr>
        <p:spPr>
          <a:xfrm>
            <a:off x="5705856" y="3200400"/>
            <a:ext cx="146304" cy="0"/>
          </a:xfrm>
          <a:prstGeom prst="line">
            <a:avLst/>
          </a:prstGeom>
          <a:ln w="15875">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852160" y="2743200"/>
            <a:ext cx="1170432" cy="91440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spcAft>
                <a:spcPts val="0"/>
              </a:spcAft>
            </a:pPr>
            <a:r>
              <a:rPr sz="1000" b="1" i="0">
                <a:solidFill>
                  <a:srgbClr val="1F3864"/>
                </a:solidFill>
                <a:latin typeface="Segoe UI"/>
              </a:rPr>
              <a:t>STP</a:t>
            </a:r>
          </a:p>
          <a:p>
            <a:pPr algn="ctr">
              <a:lnSpc>
                <a:spcPct val="100000"/>
              </a:lnSpc>
              <a:spcAft>
                <a:spcPts val="0"/>
              </a:spcAft>
            </a:pPr>
            <a:r>
              <a:rPr sz="1000" b="1" i="0">
                <a:solidFill>
                  <a:srgbClr val="1F3864"/>
                </a:solidFill>
                <a:latin typeface="Segoe UI"/>
              </a:rPr>
              <a:t>worker</a:t>
            </a:r>
          </a:p>
        </p:txBody>
      </p:sp>
      <p:cxnSp>
        <p:nvCxnSpPr>
          <p:cNvPr id="20" name="Connector 19"/>
          <p:cNvCxnSpPr/>
          <p:nvPr/>
        </p:nvCxnSpPr>
        <p:spPr>
          <a:xfrm>
            <a:off x="7022592" y="3200400"/>
            <a:ext cx="146304" cy="0"/>
          </a:xfrm>
          <a:prstGeom prst="line">
            <a:avLst/>
          </a:prstGeom>
          <a:ln w="15875">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168896" y="2743200"/>
            <a:ext cx="1170432" cy="91440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spcAft>
                <a:spcPts val="0"/>
              </a:spcAft>
            </a:pPr>
            <a:r>
              <a:rPr sz="1000" b="1" i="0">
                <a:solidFill>
                  <a:srgbClr val="1F3864"/>
                </a:solidFill>
                <a:latin typeface="Segoe UI"/>
              </a:rPr>
              <a:t>Settlement</a:t>
            </a:r>
          </a:p>
          <a:p>
            <a:pPr algn="ctr">
              <a:lnSpc>
                <a:spcPct val="100000"/>
              </a:lnSpc>
              <a:spcAft>
                <a:spcPts val="0"/>
              </a:spcAft>
            </a:pPr>
            <a:r>
              <a:rPr sz="1000" b="1" i="0">
                <a:solidFill>
                  <a:srgbClr val="1F3864"/>
                </a:solidFill>
                <a:latin typeface="Segoe UI"/>
              </a:rPr>
              <a:t>sweeper</a:t>
            </a:r>
          </a:p>
        </p:txBody>
      </p:sp>
      <p:sp>
        <p:nvSpPr>
          <p:cNvPr id="22" name="TextBox 21"/>
          <p:cNvSpPr txBox="1"/>
          <p:nvPr/>
        </p:nvSpPr>
        <p:spPr>
          <a:xfrm>
            <a:off x="3218688" y="3886200"/>
            <a:ext cx="5120640" cy="274320"/>
          </a:xfrm>
          <a:prstGeom prst="rect">
            <a:avLst/>
          </a:prstGeom>
          <a:noFill/>
        </p:spPr>
        <p:txBody>
          <a:bodyPr wrap="square" anchor="t" lIns="0" rIns="0" tIns="0" bIns="0">
            <a:spAutoFit/>
          </a:bodyPr>
          <a:lstStyle/>
          <a:p>
            <a:pPr algn="ctr">
              <a:lnSpc>
                <a:spcPct val="100000"/>
              </a:lnSpc>
              <a:spcAft>
                <a:spcPts val="400"/>
              </a:spcAft>
            </a:pPr>
            <a:r>
              <a:rPr sz="1000" b="0" i="1">
                <a:solidFill>
                  <a:srgbClr val="8A94A6"/>
                </a:solidFill>
                <a:latin typeface="Segoe UI"/>
              </a:rPr>
              <a:t>asynchronous · event-driven · idempotent consumers</a:t>
            </a:r>
          </a:p>
        </p:txBody>
      </p:sp>
      <p:sp>
        <p:nvSpPr>
          <p:cNvPr id="23" name="TextBox 22"/>
          <p:cNvSpPr txBox="1"/>
          <p:nvPr/>
        </p:nvSpPr>
        <p:spPr>
          <a:xfrm>
            <a:off x="3218688" y="4279392"/>
            <a:ext cx="5120640" cy="502920"/>
          </a:xfrm>
          <a:prstGeom prst="rect">
            <a:avLst/>
          </a:prstGeom>
          <a:noFill/>
        </p:spPr>
        <p:txBody>
          <a:bodyPr wrap="square" anchor="t" lIns="0" rIns="0" tIns="0" bIns="0">
            <a:spAutoFit/>
          </a:bodyPr>
          <a:lstStyle/>
          <a:p>
            <a:pPr algn="ctr">
              <a:lnSpc>
                <a:spcPct val="100000"/>
              </a:lnSpc>
              <a:spcAft>
                <a:spcPts val="400"/>
              </a:spcAft>
            </a:pPr>
            <a:r>
              <a:rPr sz="950" b="0" i="0">
                <a:solidFill>
                  <a:srgbClr val="8A94A6"/>
                </a:solidFill>
                <a:latin typeface="Segoe UI"/>
              </a:rPr>
              <a:t>Outbox events written in the same DB transaction as the state change; a relay publishes them to the bus.</a:t>
            </a:r>
          </a:p>
        </p:txBody>
      </p:sp>
      <p:sp>
        <p:nvSpPr>
          <p:cNvPr id="24" name="Rounded Rectangle 23"/>
          <p:cNvSpPr/>
          <p:nvPr/>
        </p:nvSpPr>
        <p:spPr>
          <a:xfrm>
            <a:off x="9006840" y="1691640"/>
            <a:ext cx="2633472" cy="1143000"/>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pPr>
            <a:r>
              <a:rPr sz="1150" b="1" i="0">
                <a:solidFill>
                  <a:srgbClr val="1F3864"/>
                </a:solidFill>
                <a:latin typeface="Segoe UI"/>
              </a:rPr>
              <a:t>PostgreSQL / SQLite</a:t>
            </a:r>
          </a:p>
          <a:p>
            <a:pPr algn="ctr">
              <a:lnSpc>
                <a:spcPct val="100000"/>
              </a:lnSpc>
              <a:spcAft>
                <a:spcPts val="300"/>
              </a:spcAft>
            </a:pPr>
            <a:r>
              <a:rPr sz="950" b="0" i="0">
                <a:solidFill>
                  <a:srgbClr val="8A94A6"/>
                </a:solidFill>
                <a:latin typeface="Segoe UI"/>
              </a:rPr>
              <a:t>transactions · audit · outbox</a:t>
            </a:r>
          </a:p>
        </p:txBody>
      </p:sp>
      <p:sp>
        <p:nvSpPr>
          <p:cNvPr id="25" name="Rounded Rectangle 24"/>
          <p:cNvSpPr/>
          <p:nvPr/>
        </p:nvSpPr>
        <p:spPr>
          <a:xfrm>
            <a:off x="9006840" y="3520440"/>
            <a:ext cx="2633472" cy="1143000"/>
          </a:xfrm>
          <a:prstGeom prst="roundRect">
            <a:avLst>
              <a:gd name="adj" fmla="val 1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pPr>
            <a:r>
              <a:rPr sz="1150" b="1" i="0">
                <a:solidFill>
                  <a:srgbClr val="1F3864"/>
                </a:solidFill>
                <a:latin typeface="Segoe UI"/>
              </a:rPr>
              <a:t>Redis</a:t>
            </a:r>
          </a:p>
          <a:p>
            <a:pPr algn="ctr">
              <a:lnSpc>
                <a:spcPct val="100000"/>
              </a:lnSpc>
              <a:spcAft>
                <a:spcPts val="300"/>
              </a:spcAft>
            </a:pPr>
            <a:r>
              <a:rPr sz="950" b="0" i="0">
                <a:solidFill>
                  <a:srgbClr val="8A94A6"/>
                </a:solidFill>
                <a:latin typeface="Segoe UI"/>
              </a:rPr>
              <a:t>sessions · event streams</a:t>
            </a:r>
          </a:p>
        </p:txBody>
      </p:sp>
      <p:cxnSp>
        <p:nvCxnSpPr>
          <p:cNvPr id="26" name="Connector 25"/>
          <p:cNvCxnSpPr/>
          <p:nvPr/>
        </p:nvCxnSpPr>
        <p:spPr>
          <a:xfrm>
            <a:off x="8503920" y="2258568"/>
            <a:ext cx="502920" cy="0"/>
          </a:xfrm>
          <a:prstGeom prst="line">
            <a:avLst/>
          </a:prstGeom>
          <a:ln w="15875">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503920" y="4087368"/>
            <a:ext cx="502920" cy="0"/>
          </a:xfrm>
          <a:prstGeom prst="line">
            <a:avLst/>
          </a:prstGeom>
          <a:ln w="15875">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48640" y="5303520"/>
            <a:ext cx="11094720" cy="96012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050" b="1" i="0">
                <a:solidFill>
                  <a:srgbClr val="1F3864"/>
                </a:solidFill>
                <a:latin typeface="Segoe UI"/>
              </a:rPr>
              <a:t>SIMULATION DATASET   </a:t>
            </a:r>
            <a:r>
              <a:rPr sz="1150" b="0" i="0">
                <a:solidFill>
                  <a:srgbClr val="333F50"/>
                </a:solidFill>
                <a:latin typeface="Segoe UI"/>
              </a:rPr>
              <a:t>~190,000 price bars · 9,300 news items — replayed on a simulation clock (≈ one market day every 78 s).  </a:t>
            </a:r>
            <a:r>
              <a:rPr sz="1150" b="1" i="1">
                <a:solidFill>
                  <a:srgbClr val="1F3864"/>
                </a:solidFill>
                <a:latin typeface="Segoe UI"/>
              </a:rPr>
              <a:t>Nothing in the system knows the data is simulated.</a:t>
            </a:r>
          </a:p>
        </p:txBody>
      </p:sp>
      <p:cxnSp>
        <p:nvCxnSpPr>
          <p:cNvPr id="29" name="Connector 28"/>
          <p:cNvCxnSpPr/>
          <p:nvPr/>
        </p:nvCxnSpPr>
        <p:spPr>
          <a:xfrm flipV="1">
            <a:off x="5760720" y="4983480"/>
            <a:ext cx="0" cy="320040"/>
          </a:xfrm>
          <a:prstGeom prst="line">
            <a:avLst/>
          </a:prstGeom>
          <a:ln w="19050">
            <a:solidFill>
              <a:srgbClr val="2962FF"/>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897880" y="5029200"/>
            <a:ext cx="1463040" cy="228600"/>
          </a:xfrm>
          <a:prstGeom prst="rect">
            <a:avLst/>
          </a:prstGeom>
          <a:noFill/>
        </p:spPr>
        <p:txBody>
          <a:bodyPr wrap="square" anchor="t" lIns="0" rIns="0" tIns="0" bIns="0">
            <a:spAutoFit/>
          </a:bodyPr>
          <a:lstStyle/>
          <a:p>
            <a:pPr algn="l">
              <a:lnSpc>
                <a:spcPct val="100000"/>
              </a:lnSpc>
              <a:spcAft>
                <a:spcPts val="400"/>
              </a:spcAft>
            </a:pPr>
            <a:r>
              <a:rPr sz="900" b="1" i="0">
                <a:solidFill>
                  <a:srgbClr val="8A94A6"/>
                </a:solidFill>
                <a:latin typeface="Segoe UI"/>
              </a:rPr>
              <a:t>tick replay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2 · WHAT WE BUILT</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GenAI in the platform — grounded and advisory-only</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7</a:t>
            </a:r>
          </a:p>
        </p:txBody>
      </p:sp>
      <p:sp>
        <p:nvSpPr>
          <p:cNvPr id="7" name="Rounded Rectangle 6"/>
          <p:cNvSpPr/>
          <p:nvPr/>
        </p:nvSpPr>
        <p:spPr>
          <a:xfrm>
            <a:off x="548640" y="1417320"/>
            <a:ext cx="3575304" cy="28803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lnSpc>
                <a:spcPct val="100000"/>
              </a:lnSpc>
              <a:spcAft>
                <a:spcPts val="1000"/>
              </a:spcAft>
            </a:pPr>
            <a:r>
              <a:rPr sz="1400" b="1" i="0">
                <a:solidFill>
                  <a:srgbClr val="1F3864"/>
                </a:solidFill>
                <a:latin typeface="Segoe UI"/>
              </a:rPr>
              <a:t>Grounded Q&amp;A, with citations</a:t>
            </a:r>
          </a:p>
          <a:p>
            <a:pPr algn="l">
              <a:lnSpc>
                <a:spcPct val="100000"/>
              </a:lnSpc>
              <a:spcAft>
                <a:spcPts val="1000"/>
              </a:spcAft>
            </a:pPr>
            <a:r>
              <a:rPr sz="1200" b="0" i="0">
                <a:solidFill>
                  <a:srgbClr val="333F50"/>
                </a:solidFill>
                <a:latin typeface="Segoe UI"/>
              </a:rPr>
              <a:t>Answers questions grounded in your actual data — positions, KPIs, news — with citations. Refuses to invent figures it doesn't have.</a:t>
            </a:r>
          </a:p>
        </p:txBody>
      </p:sp>
      <p:sp>
        <p:nvSpPr>
          <p:cNvPr id="8" name="Rounded Rectangle 7"/>
          <p:cNvSpPr/>
          <p:nvPr/>
        </p:nvSpPr>
        <p:spPr>
          <a:xfrm>
            <a:off x="4306824" y="1417320"/>
            <a:ext cx="3575304" cy="28803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lnSpc>
                <a:spcPct val="100000"/>
              </a:lnSpc>
              <a:spcAft>
                <a:spcPts val="1000"/>
              </a:spcAft>
            </a:pPr>
            <a:r>
              <a:rPr sz="1400" b="1" i="0">
                <a:solidFill>
                  <a:srgbClr val="1F3864"/>
                </a:solidFill>
                <a:latin typeface="Segoe UI"/>
              </a:rPr>
              <a:t>News summarizer</a:t>
            </a:r>
          </a:p>
          <a:p>
            <a:pPr algn="l">
              <a:lnSpc>
                <a:spcPct val="100000"/>
              </a:lnSpc>
              <a:spcAft>
                <a:spcPts val="1000"/>
              </a:spcAft>
            </a:pPr>
            <a:r>
              <a:rPr sz="1200" b="0" i="0">
                <a:solidFill>
                  <a:srgbClr val="333F50"/>
                </a:solidFill>
                <a:latin typeface="Segoe UI"/>
              </a:rPr>
              <a:t>Summarizes real coverage for the selected instrument, with a sentiment score and headline citations.</a:t>
            </a:r>
          </a:p>
        </p:txBody>
      </p:sp>
      <p:sp>
        <p:nvSpPr>
          <p:cNvPr id="9" name="Rounded Rectangle 8"/>
          <p:cNvSpPr/>
          <p:nvPr/>
        </p:nvSpPr>
        <p:spPr>
          <a:xfrm>
            <a:off x="8065008" y="1417320"/>
            <a:ext cx="3575304" cy="28803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lnSpc>
                <a:spcPct val="100000"/>
              </a:lnSpc>
              <a:spcAft>
                <a:spcPts val="1000"/>
              </a:spcAft>
            </a:pPr>
            <a:r>
              <a:rPr sz="1400" b="1" i="0">
                <a:solidFill>
                  <a:srgbClr val="1F3864"/>
                </a:solidFill>
                <a:latin typeface="Segoe UI"/>
              </a:rPr>
              <a:t>Advisory-only guardrail</a:t>
            </a:r>
          </a:p>
          <a:p>
            <a:pPr algn="l">
              <a:lnSpc>
                <a:spcPct val="100000"/>
              </a:lnSpc>
              <a:spcAft>
                <a:spcPts val="1000"/>
              </a:spcAft>
            </a:pPr>
            <a:r>
              <a:rPr sz="1200" b="0" i="0">
                <a:solidFill>
                  <a:srgbClr val="333F50"/>
                </a:solidFill>
                <a:latin typeface="Segoe UI"/>
              </a:rPr>
              <a:t>It can suggest a trade — but the suggestion always lands in the standard order ticket: same validation, same two-click confirmation.</a:t>
            </a:r>
          </a:p>
        </p:txBody>
      </p:sp>
      <p:sp>
        <p:nvSpPr>
          <p:cNvPr id="10" name="Rounded Rectangle 9"/>
          <p:cNvSpPr/>
          <p:nvPr/>
        </p:nvSpPr>
        <p:spPr>
          <a:xfrm>
            <a:off x="548640" y="4709160"/>
            <a:ext cx="11094720" cy="96012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200" b="1" i="0">
                <a:solidFill>
                  <a:srgbClr val="1F3864"/>
                </a:solidFill>
                <a:latin typeface="Segoe UI"/>
              </a:rPr>
              <a:t>Honest status: </a:t>
            </a:r>
            <a:r>
              <a:rPr sz="1200" b="0" i="0">
                <a:solidFill>
                  <a:srgbClr val="333F50"/>
                </a:solidFill>
                <a:latin typeface="Segoe UI"/>
              </a:rPr>
              <a:t>today a rule-based engine with a clean LLM seam — the interface is ready for a real model, and responses are honestly marked </a:t>
            </a:r>
            <a:r>
              <a:rPr sz="1200" b="1" i="0">
                <a:solidFill>
                  <a:srgbClr val="1F3864"/>
                </a:solidFill>
                <a:latin typeface="Segoe UI"/>
              </a:rPr>
              <a:t>mock: true</a:t>
            </a:r>
            <a:r>
              <a:rPr sz="1200" b="0" i="0">
                <a:solidFill>
                  <a:srgbClr val="333F50"/>
                </a:solidFill>
                <a:latin typeface="Segoe UI"/>
              </a:rPr>
              <a:t>.</a:t>
            </a:r>
          </a:p>
        </p:txBody>
      </p:sp>
      <p:sp>
        <p:nvSpPr>
          <p:cNvPr id="11" name="TextBox 10"/>
          <p:cNvSpPr txBox="1"/>
          <p:nvPr/>
        </p:nvSpPr>
        <p:spPr>
          <a:xfrm>
            <a:off x="548640" y="5897880"/>
            <a:ext cx="11094720" cy="320040"/>
          </a:xfrm>
          <a:prstGeom prst="rect">
            <a:avLst/>
          </a:prstGeom>
          <a:noFill/>
        </p:spPr>
        <p:txBody>
          <a:bodyPr wrap="square" anchor="t" lIns="0" rIns="0" tIns="0" bIns="0">
            <a:spAutoFit/>
          </a:bodyPr>
          <a:lstStyle/>
          <a:p>
            <a:pPr algn="ctr">
              <a:lnSpc>
                <a:spcPct val="100000"/>
              </a:lnSpc>
              <a:spcAft>
                <a:spcPts val="400"/>
              </a:spcAft>
            </a:pPr>
            <a:r>
              <a:rPr sz="1150" b="0" i="1">
                <a:solidFill>
                  <a:srgbClr val="8A94A6"/>
                </a:solidFill>
                <a:latin typeface="Segoe UI"/>
              </a:rPr>
              <a:t>A wrong summary costs a read, not a trade.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2 · WHAT WE BUILT</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Demo — 90 seconds, live on the simulation dataset</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8</a:t>
            </a:r>
          </a:p>
        </p:txBody>
      </p:sp>
      <p:sp>
        <p:nvSpPr>
          <p:cNvPr id="7" name="TextBox 6"/>
          <p:cNvSpPr txBox="1"/>
          <p:nvPr/>
        </p:nvSpPr>
        <p:spPr>
          <a:xfrm>
            <a:off x="548640" y="1234440"/>
            <a:ext cx="1109472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333F50"/>
                </a:solidFill>
                <a:latin typeface="Segoe UI"/>
              </a:rPr>
              <a:t>Watch three things:</a:t>
            </a:r>
          </a:p>
        </p:txBody>
      </p:sp>
      <p:sp>
        <p:nvSpPr>
          <p:cNvPr id="8" name="Rounded Rectangle 7"/>
          <p:cNvSpPr/>
          <p:nvPr/>
        </p:nvSpPr>
        <p:spPr>
          <a:xfrm>
            <a:off x="548640" y="1600200"/>
            <a:ext cx="3575304" cy="283464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lnSpc>
                <a:spcPct val="100000"/>
              </a:lnSpc>
              <a:spcAft>
                <a:spcPts val="800"/>
              </a:spcAft>
            </a:pPr>
            <a:r>
              <a:rPr sz="2600" b="1" i="0">
                <a:solidFill>
                  <a:srgbClr val="2962FF"/>
                </a:solidFill>
                <a:latin typeface="Segoe UI"/>
              </a:rPr>
              <a:t>1</a:t>
            </a:r>
          </a:p>
          <a:p>
            <a:pPr algn="l">
              <a:lnSpc>
                <a:spcPct val="100000"/>
              </a:lnSpc>
              <a:spcAft>
                <a:spcPts val="800"/>
              </a:spcAft>
            </a:pPr>
            <a:r>
              <a:rPr sz="1600" b="1" i="0">
                <a:solidFill>
                  <a:srgbClr val="1F3864"/>
                </a:solidFill>
                <a:latin typeface="Segoe UI"/>
              </a:rPr>
              <a:t>Buy 50 TSLA</a:t>
            </a:r>
          </a:p>
          <a:p>
            <a:pPr algn="l">
              <a:lnSpc>
                <a:spcPct val="100000"/>
              </a:lnSpc>
              <a:spcAft>
                <a:spcPts val="800"/>
              </a:spcAft>
            </a:pPr>
            <a:r>
              <a:rPr sz="1200" b="0" i="0">
                <a:solidFill>
                  <a:srgbClr val="333F50"/>
                </a:solidFill>
                <a:latin typeface="Segoe UI"/>
              </a:rPr>
              <a:t>One click from the workspace — a confirmation card with the full cost impact — second click to submit.</a:t>
            </a:r>
          </a:p>
        </p:txBody>
      </p:sp>
      <p:cxnSp>
        <p:nvCxnSpPr>
          <p:cNvPr id="9" name="Connector 8"/>
          <p:cNvCxnSpPr/>
          <p:nvPr/>
        </p:nvCxnSpPr>
        <p:spPr>
          <a:xfrm>
            <a:off x="4123944" y="3017520"/>
            <a:ext cx="182880" cy="0"/>
          </a:xfrm>
          <a:prstGeom prst="line">
            <a:avLst/>
          </a:prstGeom>
          <a:ln w="25400">
            <a:solidFill>
              <a:srgbClr val="2962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06824" y="1600200"/>
            <a:ext cx="3575304" cy="283464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lnSpc>
                <a:spcPct val="100000"/>
              </a:lnSpc>
              <a:spcAft>
                <a:spcPts val="800"/>
              </a:spcAft>
            </a:pPr>
            <a:r>
              <a:rPr sz="2600" b="1" i="0">
                <a:solidFill>
                  <a:srgbClr val="2962FF"/>
                </a:solidFill>
                <a:latin typeface="Segoe UI"/>
              </a:rPr>
              <a:t>2</a:t>
            </a:r>
          </a:p>
          <a:p>
            <a:pPr algn="l">
              <a:lnSpc>
                <a:spcPct val="100000"/>
              </a:lnSpc>
              <a:spcAft>
                <a:spcPts val="800"/>
              </a:spcAft>
            </a:pPr>
            <a:r>
              <a:rPr sz="1600" b="1" i="0">
                <a:solidFill>
                  <a:srgbClr val="1F3864"/>
                </a:solidFill>
                <a:latin typeface="Segoe UI"/>
              </a:rPr>
              <a:t>Live marks</a:t>
            </a:r>
          </a:p>
          <a:p>
            <a:pPr algn="l">
              <a:lnSpc>
                <a:spcPct val="100000"/>
              </a:lnSpc>
              <a:spcAft>
                <a:spcPts val="800"/>
              </a:spcAft>
            </a:pPr>
            <a:r>
              <a:rPr sz="1200" b="0" i="0">
                <a:solidFill>
                  <a:srgbClr val="333F50"/>
                </a:solidFill>
                <a:latin typeface="Segoe UI"/>
              </a:rPr>
              <a:t>The position marks live over the WebSocket push — no refresh — and the risk panel reacts.</a:t>
            </a:r>
          </a:p>
        </p:txBody>
      </p:sp>
      <p:cxnSp>
        <p:nvCxnSpPr>
          <p:cNvPr id="11" name="Connector 10"/>
          <p:cNvCxnSpPr/>
          <p:nvPr/>
        </p:nvCxnSpPr>
        <p:spPr>
          <a:xfrm>
            <a:off x="7882128" y="3017520"/>
            <a:ext cx="182880" cy="0"/>
          </a:xfrm>
          <a:prstGeom prst="line">
            <a:avLst/>
          </a:prstGeom>
          <a:ln w="25400">
            <a:solidFill>
              <a:srgbClr val="2962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65008" y="1600200"/>
            <a:ext cx="3575304" cy="283464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lnSpc>
                <a:spcPct val="100000"/>
              </a:lnSpc>
              <a:spcAft>
                <a:spcPts val="800"/>
              </a:spcAft>
            </a:pPr>
            <a:r>
              <a:rPr sz="2600" b="1" i="0">
                <a:solidFill>
                  <a:srgbClr val="2962FF"/>
                </a:solidFill>
                <a:latin typeface="Segoe UI"/>
              </a:rPr>
              <a:t>3</a:t>
            </a:r>
          </a:p>
          <a:p>
            <a:pPr algn="l">
              <a:lnSpc>
                <a:spcPct val="100000"/>
              </a:lnSpc>
              <a:spcAft>
                <a:spcPts val="800"/>
              </a:spcAft>
            </a:pPr>
            <a:r>
              <a:rPr sz="1600" b="1" i="0">
                <a:solidFill>
                  <a:srgbClr val="1F3864"/>
                </a:solidFill>
                <a:latin typeface="Segoe UI"/>
              </a:rPr>
              <a:t>SETTLED</a:t>
            </a:r>
          </a:p>
          <a:p>
            <a:pPr algn="l">
              <a:lnSpc>
                <a:spcPct val="100000"/>
              </a:lnSpc>
              <a:spcAft>
                <a:spcPts val="800"/>
              </a:spcAft>
            </a:pPr>
            <a:r>
              <a:rPr sz="1200" b="0" i="0">
                <a:solidFill>
                  <a:srgbClr val="333F50"/>
                </a:solidFill>
                <a:latin typeface="Segoe UI"/>
              </a:rPr>
              <a:t>With no manual step, the settlement instruction transitions to settled — that is straight-through processing.</a:t>
            </a:r>
          </a:p>
        </p:txBody>
      </p:sp>
      <p:sp>
        <p:nvSpPr>
          <p:cNvPr id="13" name="Rounded Rectangle 12"/>
          <p:cNvSpPr/>
          <p:nvPr/>
        </p:nvSpPr>
        <p:spPr>
          <a:xfrm>
            <a:off x="548640" y="4846320"/>
            <a:ext cx="11094720" cy="91440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200" b="1" i="0">
                <a:solidFill>
                  <a:srgbClr val="1F3864"/>
                </a:solidFill>
                <a:latin typeface="Segoe UI"/>
              </a:rPr>
              <a:t>Fallback: </a:t>
            </a:r>
            <a:r>
              <a:rPr sz="1200" b="0" i="0">
                <a:solidFill>
                  <a:srgbClr val="333F50"/>
                </a:solidFill>
                <a:latin typeface="Segoe UI"/>
              </a:rPr>
              <a:t>recorded video of the exact same path — we narrate the same three beats, say plainly the fallback is running, and offer to retry live during Q&amp;A.</a:t>
            </a:r>
          </a:p>
        </p:txBody>
      </p:sp>
      <p:sp>
        <p:nvSpPr>
          <p:cNvPr id="14" name="TextBox 13"/>
          <p:cNvSpPr txBox="1"/>
          <p:nvPr/>
        </p:nvSpPr>
        <p:spPr>
          <a:xfrm>
            <a:off x="548640" y="5943600"/>
            <a:ext cx="11094720" cy="274320"/>
          </a:xfrm>
          <a:prstGeom prst="rect">
            <a:avLst/>
          </a:prstGeom>
          <a:noFill/>
        </p:spPr>
        <p:txBody>
          <a:bodyPr wrap="square" anchor="t" lIns="0" rIns="0" tIns="0" bIns="0">
            <a:spAutoFit/>
          </a:bodyPr>
          <a:lstStyle/>
          <a:p>
            <a:pPr algn="ctr">
              <a:lnSpc>
                <a:spcPct val="100000"/>
              </a:lnSpc>
              <a:spcAft>
                <a:spcPts val="400"/>
              </a:spcAft>
            </a:pPr>
            <a:r>
              <a:rPr sz="1050" b="0" i="1">
                <a:solidFill>
                  <a:srgbClr val="8A94A6"/>
                </a:solidFill>
                <a:latin typeface="Segoe UI"/>
              </a:rPr>
              <a:t>Full checklist in script §10 — everything is localhost, no venue Wi-Fi dependency.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3 · OPERATIONS</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Operational processes — three workflows, one platform</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9</a:t>
            </a:r>
          </a:p>
        </p:txBody>
      </p:sp>
      <p:sp>
        <p:nvSpPr>
          <p:cNvPr id="7" name="Rounded Rectangle 6"/>
          <p:cNvSpPr/>
          <p:nvPr/>
        </p:nvSpPr>
        <p:spPr>
          <a:xfrm>
            <a:off x="548640" y="1371600"/>
            <a:ext cx="3575304" cy="43434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5" bIns="128015"/>
          <a:lstStyle/>
          <a:p>
            <a:pPr algn="l">
              <a:lnSpc>
                <a:spcPct val="100000"/>
              </a:lnSpc>
              <a:spcAft>
                <a:spcPts val="200"/>
              </a:spcAft>
            </a:pPr>
            <a:r>
              <a:rPr sz="1400" b="1" i="0">
                <a:solidFill>
                  <a:srgbClr val="1F3864"/>
                </a:solidFill>
                <a:latin typeface="Segoe UI"/>
              </a:rPr>
              <a:t>Trade settlement</a:t>
            </a:r>
          </a:p>
        </p:txBody>
      </p:sp>
      <p:sp>
        <p:nvSpPr>
          <p:cNvPr id="8" name="TextBox 7"/>
          <p:cNvSpPr txBox="1"/>
          <p:nvPr/>
        </p:nvSpPr>
        <p:spPr>
          <a:xfrm>
            <a:off x="713232" y="1920240"/>
            <a:ext cx="3246120" cy="3657600"/>
          </a:xfrm>
          <a:prstGeom prst="rect">
            <a:avLst/>
          </a:prstGeom>
          <a:noFill/>
        </p:spPr>
        <p:txBody>
          <a:bodyPr wrap="square" lIns="0" rIns="0" tIns="0" bIns="0">
            <a:spAutoFit/>
          </a:bodyPr>
          <a:lstStyle/>
          <a:p>
            <a:pPr>
              <a:lnSpc>
                <a:spcPct val="104000"/>
              </a:lnSpc>
              <a:spcAft>
                <a:spcPts val="900"/>
              </a:spcAft>
            </a:pPr>
            <a:r>
              <a:rPr sz="1100" b="1">
                <a:solidFill>
                  <a:srgbClr val="2962FF"/>
                </a:solidFill>
                <a:latin typeface="Segoe UI"/>
              </a:rPr>
              <a:t>•  </a:t>
            </a:r>
            <a:r>
              <a:rPr sz="1100" b="1">
                <a:solidFill>
                  <a:srgbClr val="1F3864"/>
                </a:solidFill>
                <a:latin typeface="Segoe UI"/>
              </a:rPr>
              <a:t>Execution creates a settlement instruction — </a:t>
            </a:r>
            <a:r>
              <a:rPr sz="1100" b="0">
                <a:solidFill>
                  <a:srgbClr val="333F50"/>
                </a:solidFill>
                <a:latin typeface="Segoe UI"/>
              </a:rPr>
              <a:t>EXECUTED → AFFIRMED → SETTLED, automatically.</a:t>
            </a:r>
          </a:p>
          <a:p>
            <a:pPr>
              <a:lnSpc>
                <a:spcPct val="104000"/>
              </a:lnSpc>
              <a:spcAft>
                <a:spcPts val="900"/>
              </a:spcAft>
            </a:pPr>
            <a:r>
              <a:rPr sz="1100" b="1">
                <a:solidFill>
                  <a:srgbClr val="2962FF"/>
                </a:solidFill>
                <a:latin typeface="Segoe UI"/>
              </a:rPr>
              <a:t>•  </a:t>
            </a:r>
            <a:r>
              <a:rPr sz="1100" b="1">
                <a:solidFill>
                  <a:srgbClr val="1F3864"/>
                </a:solidFill>
                <a:latin typeface="Segoe UI"/>
              </a:rPr>
              <a:t>Exceptions are the job: </a:t>
            </a:r>
            <a:r>
              <a:rPr sz="1100" b="0">
                <a:solidFill>
                  <a:srgbClr val="333F50"/>
                </a:solidFill>
                <a:latin typeface="Segoe UI"/>
              </a:rPr>
              <a:t>they surface on the operations dashboard, with audit on every transition.</a:t>
            </a:r>
          </a:p>
          <a:p>
            <a:pPr>
              <a:lnSpc>
                <a:spcPct val="104000"/>
              </a:lnSpc>
              <a:spcAft>
                <a:spcPts val="900"/>
              </a:spcAft>
            </a:pPr>
            <a:r>
              <a:rPr sz="1100" b="1">
                <a:solidFill>
                  <a:srgbClr val="2962FF"/>
                </a:solidFill>
                <a:latin typeface="Segoe UI"/>
              </a:rPr>
              <a:t>•  </a:t>
            </a:r>
            <a:r>
              <a:rPr sz="1100" b="1">
                <a:solidFill>
                  <a:srgbClr val="1F3864"/>
                </a:solidFill>
                <a:latin typeface="Segoe UI"/>
              </a:rPr>
              <a:t>Same pipeline for client, house and paper books — </a:t>
            </a:r>
            <a:r>
              <a:rPr sz="1100" b="0">
                <a:solidFill>
                  <a:srgbClr val="333F50"/>
                </a:solidFill>
                <a:latin typeface="Segoe UI"/>
              </a:rPr>
              <a:t>paper is the same code path with a portfolio-type flag.</a:t>
            </a:r>
          </a:p>
        </p:txBody>
      </p:sp>
      <p:sp>
        <p:nvSpPr>
          <p:cNvPr id="9" name="Rounded Rectangle 8"/>
          <p:cNvSpPr/>
          <p:nvPr/>
        </p:nvSpPr>
        <p:spPr>
          <a:xfrm>
            <a:off x="4306824" y="1371600"/>
            <a:ext cx="3575304" cy="43434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5" bIns="128015"/>
          <a:lstStyle/>
          <a:p>
            <a:pPr algn="l">
              <a:lnSpc>
                <a:spcPct val="100000"/>
              </a:lnSpc>
              <a:spcAft>
                <a:spcPts val="200"/>
              </a:spcAft>
            </a:pPr>
            <a:r>
              <a:rPr sz="1400" b="1" i="0">
                <a:solidFill>
                  <a:srgbClr val="1F3864"/>
                </a:solidFill>
                <a:latin typeface="Segoe UI"/>
              </a:rPr>
              <a:t>Risk management</a:t>
            </a:r>
          </a:p>
        </p:txBody>
      </p:sp>
      <p:sp>
        <p:nvSpPr>
          <p:cNvPr id="10" name="TextBox 9"/>
          <p:cNvSpPr txBox="1"/>
          <p:nvPr/>
        </p:nvSpPr>
        <p:spPr>
          <a:xfrm>
            <a:off x="4471416" y="1920240"/>
            <a:ext cx="3246120" cy="3657600"/>
          </a:xfrm>
          <a:prstGeom prst="rect">
            <a:avLst/>
          </a:prstGeom>
          <a:noFill/>
        </p:spPr>
        <p:txBody>
          <a:bodyPr wrap="square" lIns="0" rIns="0" tIns="0" bIns="0">
            <a:spAutoFit/>
          </a:bodyPr>
          <a:lstStyle/>
          <a:p>
            <a:pPr>
              <a:lnSpc>
                <a:spcPct val="104000"/>
              </a:lnSpc>
              <a:spcAft>
                <a:spcPts val="900"/>
              </a:spcAft>
            </a:pPr>
            <a:r>
              <a:rPr sz="1100" b="1">
                <a:solidFill>
                  <a:srgbClr val="2962FF"/>
                </a:solidFill>
                <a:latin typeface="Segoe UI"/>
              </a:rPr>
              <a:t>•  </a:t>
            </a:r>
            <a:r>
              <a:rPr sz="1100" b="1">
                <a:solidFill>
                  <a:srgbClr val="1F3864"/>
                </a:solidFill>
                <a:latin typeface="Segoe UI"/>
              </a:rPr>
              <a:t>Pre-trade validation on every order: </a:t>
            </a:r>
            <a:r>
              <a:rPr sz="1100" b="0">
                <a:solidFill>
                  <a:srgbClr val="333F50"/>
                </a:solidFill>
                <a:latin typeface="Segoe UI"/>
              </a:rPr>
              <a:t>cash, lot size, configurable max notional, restricted-instrument list.</a:t>
            </a:r>
          </a:p>
          <a:p>
            <a:pPr>
              <a:lnSpc>
                <a:spcPct val="104000"/>
              </a:lnSpc>
              <a:spcAft>
                <a:spcPts val="900"/>
              </a:spcAft>
            </a:pPr>
            <a:r>
              <a:rPr sz="1100" b="1">
                <a:solidFill>
                  <a:srgbClr val="2962FF"/>
                </a:solidFill>
                <a:latin typeface="Segoe UI"/>
              </a:rPr>
              <a:t>•  </a:t>
            </a:r>
            <a:r>
              <a:rPr sz="1100" b="1">
                <a:solidFill>
                  <a:srgbClr val="1F3864"/>
                </a:solidFill>
                <a:latin typeface="Segoe UI"/>
              </a:rPr>
              <a:t>Restricted orders reject with a reason — </a:t>
            </a:r>
            <a:r>
              <a:rPr sz="1100" b="0">
                <a:solidFill>
                  <a:srgbClr val="333F50"/>
                </a:solidFill>
                <a:latin typeface="Segoe UI"/>
              </a:rPr>
              <a:t>and the rejection is audited.</a:t>
            </a:r>
          </a:p>
          <a:p>
            <a:pPr>
              <a:lnSpc>
                <a:spcPct val="104000"/>
              </a:lnSpc>
              <a:spcAft>
                <a:spcPts val="900"/>
              </a:spcAft>
            </a:pPr>
            <a:r>
              <a:rPr sz="1100" b="1">
                <a:solidFill>
                  <a:srgbClr val="2962FF"/>
                </a:solidFill>
                <a:latin typeface="Segoe UI"/>
              </a:rPr>
              <a:t>•  </a:t>
            </a:r>
            <a:r>
              <a:rPr sz="1100" b="1">
                <a:solidFill>
                  <a:srgbClr val="1F3864"/>
                </a:solidFill>
                <a:latin typeface="Segoe UI"/>
              </a:rPr>
              <a:t>Post-trade, the risk panel computes </a:t>
            </a:r>
            <a:r>
              <a:rPr sz="1100" b="0">
                <a:solidFill>
                  <a:srgbClr val="333F50"/>
                </a:solidFill>
                <a:latin typeface="Segoe UI"/>
              </a:rPr>
              <a:t>concentration, volatility and top holdings, live from positions.</a:t>
            </a:r>
          </a:p>
        </p:txBody>
      </p:sp>
      <p:sp>
        <p:nvSpPr>
          <p:cNvPr id="11" name="Rounded Rectangle 10"/>
          <p:cNvSpPr/>
          <p:nvPr/>
        </p:nvSpPr>
        <p:spPr>
          <a:xfrm>
            <a:off x="8065008" y="1371600"/>
            <a:ext cx="3575304" cy="43434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5" bIns="128015"/>
          <a:lstStyle/>
          <a:p>
            <a:pPr algn="l">
              <a:lnSpc>
                <a:spcPct val="100000"/>
              </a:lnSpc>
              <a:spcAft>
                <a:spcPts val="200"/>
              </a:spcAft>
            </a:pPr>
            <a:r>
              <a:rPr sz="1400" b="1" i="0">
                <a:solidFill>
                  <a:srgbClr val="1F3864"/>
                </a:solidFill>
                <a:latin typeface="Segoe UI"/>
              </a:rPr>
              <a:t>System access</a:t>
            </a:r>
          </a:p>
        </p:txBody>
      </p:sp>
      <p:sp>
        <p:nvSpPr>
          <p:cNvPr id="12" name="TextBox 11"/>
          <p:cNvSpPr txBox="1"/>
          <p:nvPr/>
        </p:nvSpPr>
        <p:spPr>
          <a:xfrm>
            <a:off x="8229600" y="1920240"/>
            <a:ext cx="3246120" cy="3657600"/>
          </a:xfrm>
          <a:prstGeom prst="rect">
            <a:avLst/>
          </a:prstGeom>
          <a:noFill/>
        </p:spPr>
        <p:txBody>
          <a:bodyPr wrap="square" lIns="0" rIns="0" tIns="0" bIns="0">
            <a:spAutoFit/>
          </a:bodyPr>
          <a:lstStyle/>
          <a:p>
            <a:pPr>
              <a:lnSpc>
                <a:spcPct val="104000"/>
              </a:lnSpc>
              <a:spcAft>
                <a:spcPts val="900"/>
              </a:spcAft>
            </a:pPr>
            <a:r>
              <a:rPr sz="1100" b="1">
                <a:solidFill>
                  <a:srgbClr val="2962FF"/>
                </a:solidFill>
                <a:latin typeface="Segoe UI"/>
              </a:rPr>
              <a:t>•  </a:t>
            </a:r>
            <a:r>
              <a:rPr sz="1100" b="1">
                <a:solidFill>
                  <a:srgbClr val="1F3864"/>
                </a:solidFill>
                <a:latin typeface="Segoe UI"/>
              </a:rPr>
              <a:t>Deny-by-default: </a:t>
            </a:r>
            <a:r>
              <a:rPr sz="1100" b="0">
                <a:solidFill>
                  <a:srgbClr val="333F50"/>
                </a:solidFill>
                <a:latin typeface="Segoe UI"/>
              </a:rPr>
              <a:t>roles grant permissions; just-in-time grants expire automatically.</a:t>
            </a:r>
          </a:p>
          <a:p>
            <a:pPr>
              <a:lnSpc>
                <a:spcPct val="104000"/>
              </a:lnSpc>
              <a:spcAft>
                <a:spcPts val="900"/>
              </a:spcAft>
            </a:pPr>
            <a:r>
              <a:rPr sz="1100" b="1">
                <a:solidFill>
                  <a:srgbClr val="2962FF"/>
                </a:solidFill>
                <a:latin typeface="Segoe UI"/>
              </a:rPr>
              <a:t>•  </a:t>
            </a:r>
            <a:r>
              <a:rPr sz="1100" b="1">
                <a:solidFill>
                  <a:srgbClr val="1F3864"/>
                </a:solidFill>
                <a:latin typeface="Segoe UI"/>
              </a:rPr>
              <a:t>Privileged actions via CyberArk-style checkout </a:t>
            </a:r>
            <a:r>
              <a:rPr sz="1100" b="0">
                <a:solidFill>
                  <a:srgbClr val="333F50"/>
                </a:solidFill>
                <a:latin typeface="Segoe UI"/>
              </a:rPr>
              <a:t>(mocked adapter — the interface is real).</a:t>
            </a:r>
          </a:p>
          <a:p>
            <a:pPr>
              <a:lnSpc>
                <a:spcPct val="104000"/>
              </a:lnSpc>
              <a:spcAft>
                <a:spcPts val="900"/>
              </a:spcAft>
            </a:pPr>
            <a:r>
              <a:rPr sz="1100" b="1">
                <a:solidFill>
                  <a:srgbClr val="2962FF"/>
                </a:solidFill>
                <a:latin typeface="Segoe UI"/>
              </a:rPr>
              <a:t>•  </a:t>
            </a:r>
            <a:r>
              <a:rPr sz="1100" b="1">
                <a:solidFill>
                  <a:srgbClr val="1F3864"/>
                </a:solidFill>
                <a:latin typeface="Segoe UI"/>
              </a:rPr>
              <a:t>Break-glass time-boxed to 4 h </a:t>
            </a:r>
            <a:r>
              <a:rPr sz="1100" b="0">
                <a:solidFill>
                  <a:srgbClr val="333F50"/>
                </a:solidFill>
                <a:latin typeface="Segoe UI"/>
              </a:rPr>
              <a:t>with a 24 h review SLA.</a:t>
            </a:r>
          </a:p>
          <a:p>
            <a:pPr>
              <a:lnSpc>
                <a:spcPct val="104000"/>
              </a:lnSpc>
              <a:spcAft>
                <a:spcPts val="900"/>
              </a:spcAft>
            </a:pPr>
            <a:r>
              <a:rPr sz="1100" b="1">
                <a:solidFill>
                  <a:srgbClr val="2962FF"/>
                </a:solidFill>
                <a:latin typeface="Segoe UI"/>
              </a:rPr>
              <a:t>•  </a:t>
            </a:r>
            <a:r>
              <a:rPr sz="1100" b="1">
                <a:solidFill>
                  <a:srgbClr val="1F3864"/>
                </a:solidFill>
                <a:latin typeface="Segoe UI"/>
              </a:rPr>
              <a:t>Hash-chained, append-only audit — </a:t>
            </a:r>
            <a:r>
              <a:rPr sz="1100" b="0">
                <a:solidFill>
                  <a:srgbClr val="333F50"/>
                </a:solidFill>
                <a:latin typeface="Segoe UI"/>
              </a:rPr>
              <a:t>tamper-evident; the auditor role can search and export it.</a:t>
            </a:r>
          </a:p>
        </p:txBody>
      </p:sp>
      <p:sp>
        <p:nvSpPr>
          <p:cNvPr id="13" name="Rounded Rectangle 12"/>
          <p:cNvSpPr/>
          <p:nvPr/>
        </p:nvSpPr>
        <p:spPr>
          <a:xfrm>
            <a:off x="548640" y="5897880"/>
            <a:ext cx="11094720" cy="50292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250" b="1" i="1">
                <a:solidFill>
                  <a:srgbClr val="1F3864"/>
                </a:solidFill>
                <a:latin typeface="Segoe UI"/>
              </a:rPr>
              <a:t>The business workflow and the technical workflow are the same workflow.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4 · PROCESS</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How we worked — three one-week sprints</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10</a:t>
            </a:r>
          </a:p>
        </p:txBody>
      </p:sp>
      <p:sp>
        <p:nvSpPr>
          <p:cNvPr id="7" name="Pentagon 6"/>
          <p:cNvSpPr/>
          <p:nvPr/>
        </p:nvSpPr>
        <p:spPr>
          <a:xfrm>
            <a:off x="548640" y="1371600"/>
            <a:ext cx="3520440" cy="566928"/>
          </a:xfrm>
          <a:prstGeom prst="homePlate">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200"/>
              </a:spcAft>
            </a:pPr>
            <a:r>
              <a:rPr sz="1250" b="1" i="0">
                <a:solidFill>
                  <a:srgbClr val="FFFFFF"/>
                </a:solidFill>
                <a:latin typeface="Segoe UI"/>
              </a:rPr>
              <a:t>Week 1 — Walking skeleton + governance spine</a:t>
            </a:r>
          </a:p>
        </p:txBody>
      </p:sp>
      <p:sp>
        <p:nvSpPr>
          <p:cNvPr id="8" name="Rounded Rectangle 7"/>
          <p:cNvSpPr/>
          <p:nvPr/>
        </p:nvSpPr>
        <p:spPr>
          <a:xfrm>
            <a:off x="548640" y="2148840"/>
            <a:ext cx="3520440" cy="178308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5" bIns="128015"/>
          <a:lstStyle/>
          <a:p>
            <a:pPr algn="ctr">
              <a:lnSpc>
                <a:spcPct val="100000"/>
              </a:lnSpc>
              <a:spcAft>
                <a:spcPts val="200"/>
              </a:spcAft>
            </a:pPr>
            <a:r>
              <a:rPr sz="1150" b="0" i="0">
                <a:solidFill>
                  <a:srgbClr val="333F50"/>
                </a:solidFill>
                <a:latin typeface="Segoe UI"/>
              </a:rPr>
              <a:t>Auth · RBAC · audit · access-request lifecycle · dataset loader</a:t>
            </a:r>
          </a:p>
        </p:txBody>
      </p:sp>
      <p:sp>
        <p:nvSpPr>
          <p:cNvPr id="9" name="Diamond 8"/>
          <p:cNvSpPr/>
          <p:nvPr/>
        </p:nvSpPr>
        <p:spPr>
          <a:xfrm>
            <a:off x="4101084" y="1554480"/>
            <a:ext cx="201168" cy="201168"/>
          </a:xfrm>
          <a:prstGeom prst="diamond">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4334256" y="1371600"/>
            <a:ext cx="3520440" cy="566928"/>
          </a:xfrm>
          <a:prstGeom prst="chevron">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200"/>
              </a:spcAft>
            </a:pPr>
            <a:r>
              <a:rPr sz="1250" b="1" i="0">
                <a:solidFill>
                  <a:srgbClr val="FFFFFF"/>
                </a:solidFill>
                <a:latin typeface="Segoe UI"/>
              </a:rPr>
              <a:t>Week 2 — Trading core</a:t>
            </a:r>
          </a:p>
        </p:txBody>
      </p:sp>
      <p:sp>
        <p:nvSpPr>
          <p:cNvPr id="11" name="Rounded Rectangle 10"/>
          <p:cNvSpPr/>
          <p:nvPr/>
        </p:nvSpPr>
        <p:spPr>
          <a:xfrm>
            <a:off x="4334256" y="2148840"/>
            <a:ext cx="3520440" cy="178308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5" bIns="128015"/>
          <a:lstStyle/>
          <a:p>
            <a:pPr algn="ctr">
              <a:lnSpc>
                <a:spcPct val="100000"/>
              </a:lnSpc>
              <a:spcAft>
                <a:spcPts val="200"/>
              </a:spcAft>
            </a:pPr>
            <a:r>
              <a:rPr sz="1150" b="0" i="0">
                <a:solidFill>
                  <a:srgbClr val="333F50"/>
                </a:solidFill>
                <a:latin typeface="Segoe UI"/>
              </a:rPr>
              <a:t>Order ticket · execution engine · STP settlement · portfolios · charts · notifications</a:t>
            </a:r>
          </a:p>
        </p:txBody>
      </p:sp>
      <p:sp>
        <p:nvSpPr>
          <p:cNvPr id="12" name="Diamond 11"/>
          <p:cNvSpPr/>
          <p:nvPr/>
        </p:nvSpPr>
        <p:spPr>
          <a:xfrm>
            <a:off x="7886700" y="1554480"/>
            <a:ext cx="201168" cy="201168"/>
          </a:xfrm>
          <a:prstGeom prst="diamond">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a:off x="8119872" y="1371600"/>
            <a:ext cx="3520440" cy="566928"/>
          </a:xfrm>
          <a:prstGeom prst="chevron">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200"/>
              </a:spcAft>
            </a:pPr>
            <a:r>
              <a:rPr sz="1250" b="1" i="0">
                <a:solidFill>
                  <a:srgbClr val="FFFFFF"/>
                </a:solidFill>
                <a:latin typeface="Segoe UI"/>
              </a:rPr>
              <a:t>Week 3 — Breadth &amp; hardening</a:t>
            </a:r>
          </a:p>
        </p:txBody>
      </p:sp>
      <p:sp>
        <p:nvSpPr>
          <p:cNvPr id="14" name="Rounded Rectangle 13"/>
          <p:cNvSpPr/>
          <p:nvPr/>
        </p:nvSpPr>
        <p:spPr>
          <a:xfrm>
            <a:off x="8119872" y="2148840"/>
            <a:ext cx="3520440" cy="178308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8015" bIns="128015"/>
          <a:lstStyle/>
          <a:p>
            <a:pPr algn="ctr">
              <a:lnSpc>
                <a:spcPct val="100000"/>
              </a:lnSpc>
              <a:spcAft>
                <a:spcPts val="200"/>
              </a:spcAft>
            </a:pPr>
            <a:r>
              <a:rPr sz="1150" b="0" i="0">
                <a:solidFill>
                  <a:srgbClr val="333F50"/>
                </a:solidFill>
                <a:latin typeface="Segoe UI"/>
              </a:rPr>
              <a:t>Paper trading · reports · analytics · admin dashboards · GenAI assistant</a:t>
            </a:r>
          </a:p>
        </p:txBody>
      </p:sp>
      <p:sp>
        <p:nvSpPr>
          <p:cNvPr id="15" name="TextBox 14"/>
          <p:cNvSpPr txBox="1"/>
          <p:nvPr/>
        </p:nvSpPr>
        <p:spPr>
          <a:xfrm>
            <a:off x="548640" y="4023360"/>
            <a:ext cx="11094720" cy="274320"/>
          </a:xfrm>
          <a:prstGeom prst="rect">
            <a:avLst/>
          </a:prstGeom>
          <a:noFill/>
        </p:spPr>
        <p:txBody>
          <a:bodyPr wrap="square" anchor="t" lIns="0" rIns="0" tIns="0" bIns="0">
            <a:spAutoFit/>
          </a:bodyPr>
          <a:lstStyle/>
          <a:p>
            <a:pPr algn="ctr">
              <a:lnSpc>
                <a:spcPct val="100000"/>
              </a:lnSpc>
              <a:spcAft>
                <a:spcPts val="400"/>
              </a:spcAft>
            </a:pPr>
            <a:r>
              <a:rPr sz="1050" b="0" i="0">
                <a:solidFill>
                  <a:srgbClr val="8A94A6"/>
                </a:solidFill>
                <a:latin typeface="Segoe UI"/>
              </a:rPr>
              <a:t>◆ milestone feedback after each sprint · daily facilitator touchpoints</a:t>
            </a:r>
          </a:p>
        </p:txBody>
      </p:sp>
      <p:sp>
        <p:nvSpPr>
          <p:cNvPr id="16" name="Rounded Rectangle 15"/>
          <p:cNvSpPr/>
          <p:nvPr/>
        </p:nvSpPr>
        <p:spPr>
          <a:xfrm>
            <a:off x="548640" y="4526280"/>
            <a:ext cx="11094720" cy="164592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lnSpc>
                <a:spcPct val="100000"/>
              </a:lnSpc>
              <a:spcAft>
                <a:spcPts val="700"/>
              </a:spcAft>
            </a:pPr>
            <a:r>
              <a:rPr sz="1300" b="1" i="0">
                <a:solidFill>
                  <a:srgbClr val="1F3864"/>
                </a:solidFill>
                <a:latin typeface="Segoe UI"/>
              </a:rPr>
              <a:t>Feedback changed course. </a:t>
            </a:r>
            <a:r>
              <a:rPr sz="1300" b="0" i="0">
                <a:solidFill>
                  <a:srgbClr val="333F50"/>
                </a:solidFill>
                <a:latin typeface="Segoe UI"/>
              </a:rPr>
              <a:t>The product-owner feedback round after the trading demo produced four concrete changes:</a:t>
            </a:r>
          </a:p>
          <a:p>
            <a:pPr algn="ctr">
              <a:lnSpc>
                <a:spcPct val="100000"/>
              </a:lnSpc>
              <a:spcAft>
                <a:spcPts val="700"/>
              </a:spcAft>
            </a:pPr>
            <a:r>
              <a:rPr sz="1350" b="1" i="0">
                <a:solidFill>
                  <a:srgbClr val="2962FF"/>
                </a:solidFill>
                <a:latin typeface="Segoe UI"/>
              </a:rPr>
              <a:t>two-click confirmation  ·  bonds  ·  stop orders  ·  order restrictions</a:t>
            </a:r>
          </a:p>
          <a:p>
            <a:pPr algn="ctr">
              <a:lnSpc>
                <a:spcPct val="100000"/>
              </a:lnSpc>
              <a:spcAft>
                <a:spcPts val="700"/>
              </a:spcAft>
            </a:pPr>
            <a:r>
              <a:rPr sz="1050" b="0" i="1">
                <a:solidFill>
                  <a:srgbClr val="8A94A6"/>
                </a:solidFill>
                <a:latin typeface="Segoe UI"/>
              </a:rPr>
              <a:t>Recorded in the repo as interview notes and a design document.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4 · PROCESS</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Engineering practices — verified, not asserted</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11</a:t>
            </a:r>
          </a:p>
        </p:txBody>
      </p:sp>
      <p:sp>
        <p:nvSpPr>
          <p:cNvPr id="7" name="TextBox 6"/>
          <p:cNvSpPr txBox="1"/>
          <p:nvPr/>
        </p:nvSpPr>
        <p:spPr>
          <a:xfrm>
            <a:off x="548640" y="1371600"/>
            <a:ext cx="5989320" cy="4297680"/>
          </a:xfrm>
          <a:prstGeom prst="rect">
            <a:avLst/>
          </a:prstGeom>
          <a:noFill/>
        </p:spPr>
        <p:txBody>
          <a:bodyPr wrap="square" lIns="0" rIns="0" tIns="0" bIns="0">
            <a:spAutoFit/>
          </a:bodyPr>
          <a:lstStyle/>
          <a:p>
            <a:pPr>
              <a:lnSpc>
                <a:spcPct val="104000"/>
              </a:lnSpc>
              <a:spcAft>
                <a:spcPts val="1200"/>
              </a:spcAft>
            </a:pPr>
            <a:r>
              <a:rPr sz="1200" b="1">
                <a:solidFill>
                  <a:srgbClr val="2962FF"/>
                </a:solidFill>
                <a:latin typeface="Segoe UI"/>
              </a:rPr>
              <a:t>•  </a:t>
            </a:r>
            <a:r>
              <a:rPr sz="1200" b="1">
                <a:solidFill>
                  <a:srgbClr val="1F3864"/>
                </a:solidFill>
                <a:latin typeface="Segoe UI"/>
              </a:rPr>
              <a:t>Design before code: </a:t>
            </a:r>
            <a:r>
              <a:rPr sz="1200" b="0">
                <a:solidFill>
                  <a:srgbClr val="333F50"/>
                </a:solidFill>
                <a:latin typeface="Segoe UI"/>
              </a:rPr>
              <a:t>24 numbered design documents, one per module or major feature, each traced to SRS requirement IDs.</a:t>
            </a:r>
          </a:p>
          <a:p>
            <a:pPr>
              <a:lnSpc>
                <a:spcPct val="104000"/>
              </a:lnSpc>
              <a:spcAft>
                <a:spcPts val="1200"/>
              </a:spcAft>
            </a:pPr>
            <a:r>
              <a:rPr sz="1200" b="1">
                <a:solidFill>
                  <a:srgbClr val="2962FF"/>
                </a:solidFill>
                <a:latin typeface="Segoe UI"/>
              </a:rPr>
              <a:t>•  </a:t>
            </a:r>
            <a:r>
              <a:rPr sz="1200" b="1">
                <a:solidFill>
                  <a:srgbClr val="1F3864"/>
                </a:solidFill>
                <a:latin typeface="Segoe UI"/>
              </a:rPr>
              <a:t>Git flow: </a:t>
            </a:r>
            <a:r>
              <a:rPr sz="1200" b="0">
                <a:solidFill>
                  <a:srgbClr val="333F50"/>
                </a:solidFill>
                <a:latin typeface="Segoe UI"/>
              </a:rPr>
              <a:t>feature branches off an integration branch — 9 merges, 7 feature branches in the history — plus a dated changelog entry per milestone.</a:t>
            </a:r>
          </a:p>
          <a:p>
            <a:pPr>
              <a:lnSpc>
                <a:spcPct val="104000"/>
              </a:lnSpc>
              <a:spcAft>
                <a:spcPts val="1200"/>
              </a:spcAft>
            </a:pPr>
            <a:r>
              <a:rPr sz="1200" b="1">
                <a:solidFill>
                  <a:srgbClr val="2962FF"/>
                </a:solidFill>
                <a:latin typeface="Segoe UI"/>
              </a:rPr>
              <a:t>•  </a:t>
            </a:r>
            <a:r>
              <a:rPr sz="1200" b="1">
                <a:solidFill>
                  <a:srgbClr val="1F3864"/>
                </a:solidFill>
                <a:latin typeface="Segoe UI"/>
              </a:rPr>
              <a:t>Verification gates on every milestone: </a:t>
            </a:r>
            <a:r>
              <a:rPr sz="1200" b="0">
                <a:solidFill>
                  <a:srgbClr val="333F50"/>
                </a:solidFill>
                <a:latin typeface="Segoe UI"/>
              </a:rPr>
              <a:t>full test suite, strict TypeScript build, an end-to-end walk of the real stack, and headless-browser screenshots for UI changes.</a:t>
            </a:r>
          </a:p>
          <a:p>
            <a:pPr>
              <a:lnSpc>
                <a:spcPct val="104000"/>
              </a:lnSpc>
              <a:spcAft>
                <a:spcPts val="1200"/>
              </a:spcAft>
            </a:pPr>
            <a:r>
              <a:rPr sz="1200" b="1">
                <a:solidFill>
                  <a:srgbClr val="2962FF"/>
                </a:solidFill>
                <a:latin typeface="Segoe UI"/>
              </a:rPr>
              <a:t>•  </a:t>
            </a:r>
            <a:r>
              <a:rPr sz="1200" b="1">
                <a:solidFill>
                  <a:srgbClr val="1F3864"/>
                </a:solidFill>
                <a:latin typeface="Segoe UI"/>
              </a:rPr>
              <a:t>Second pair of eyes: </a:t>
            </a:r>
            <a:r>
              <a:rPr sz="1200" b="0">
                <a:solidFill>
                  <a:srgbClr val="333F50"/>
                </a:solidFill>
                <a:latin typeface="Segoe UI"/>
              </a:rPr>
              <a:t>verified independently, never trusted on the author's word.</a:t>
            </a:r>
          </a:p>
        </p:txBody>
      </p:sp>
      <p:sp>
        <p:nvSpPr>
          <p:cNvPr id="8" name="TextBox 7"/>
          <p:cNvSpPr txBox="1"/>
          <p:nvPr/>
        </p:nvSpPr>
        <p:spPr>
          <a:xfrm>
            <a:off x="6858000" y="1298448"/>
            <a:ext cx="4754880" cy="274320"/>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SIX-STAGE GITLAB CI/CD</a:t>
            </a:r>
          </a:p>
        </p:txBody>
      </p:sp>
      <p:sp>
        <p:nvSpPr>
          <p:cNvPr id="9" name="Rounded Rectangle 8"/>
          <p:cNvSpPr/>
          <p:nvPr/>
        </p:nvSpPr>
        <p:spPr>
          <a:xfrm>
            <a:off x="6858000" y="1627632"/>
            <a:ext cx="1920240" cy="512064"/>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00" b="1" i="0">
                <a:solidFill>
                  <a:srgbClr val="1F3864"/>
                </a:solidFill>
                <a:latin typeface="Segoe UI"/>
              </a:rPr>
              <a:t>lint</a:t>
            </a:r>
          </a:p>
        </p:txBody>
      </p:sp>
      <p:sp>
        <p:nvSpPr>
          <p:cNvPr id="10" name="TextBox 9"/>
          <p:cNvSpPr txBox="1"/>
          <p:nvPr/>
        </p:nvSpPr>
        <p:spPr>
          <a:xfrm>
            <a:off x="8915400" y="1728216"/>
            <a:ext cx="2743200" cy="365760"/>
          </a:xfrm>
          <a:prstGeom prst="rect">
            <a:avLst/>
          </a:prstGeom>
          <a:noFill/>
        </p:spPr>
        <p:txBody>
          <a:bodyPr wrap="square" anchor="t" lIns="0" rIns="0" tIns="0" bIns="0">
            <a:spAutoFit/>
          </a:bodyPr>
          <a:lstStyle/>
          <a:p>
            <a:pPr algn="l">
              <a:lnSpc>
                <a:spcPct val="100000"/>
              </a:lnSpc>
              <a:spcAft>
                <a:spcPts val="400"/>
              </a:spcAft>
            </a:pPr>
            <a:r>
              <a:rPr sz="900" b="0" i="0">
                <a:solidFill>
                  <a:srgbClr val="8A94A6"/>
                </a:solidFill>
                <a:latin typeface="Segoe UI"/>
              </a:rPr>
              <a:t>compileall + pip check</a:t>
            </a:r>
          </a:p>
        </p:txBody>
      </p:sp>
      <p:sp>
        <p:nvSpPr>
          <p:cNvPr id="11" name="Rounded Rectangle 10"/>
          <p:cNvSpPr/>
          <p:nvPr/>
        </p:nvSpPr>
        <p:spPr>
          <a:xfrm>
            <a:off x="6858000" y="2249424"/>
            <a:ext cx="1920240" cy="512064"/>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00" b="1" i="0">
                <a:solidFill>
                  <a:srgbClr val="1F3864"/>
                </a:solidFill>
                <a:latin typeface="Segoe UI"/>
              </a:rPr>
              <a:t>test</a:t>
            </a:r>
          </a:p>
        </p:txBody>
      </p:sp>
      <p:sp>
        <p:nvSpPr>
          <p:cNvPr id="12" name="TextBox 11"/>
          <p:cNvSpPr txBox="1"/>
          <p:nvPr/>
        </p:nvSpPr>
        <p:spPr>
          <a:xfrm>
            <a:off x="8915400" y="2350008"/>
            <a:ext cx="2743200" cy="365760"/>
          </a:xfrm>
          <a:prstGeom prst="rect">
            <a:avLst/>
          </a:prstGeom>
          <a:noFill/>
        </p:spPr>
        <p:txBody>
          <a:bodyPr wrap="square" anchor="t" lIns="0" rIns="0" tIns="0" bIns="0">
            <a:spAutoFit/>
          </a:bodyPr>
          <a:lstStyle/>
          <a:p>
            <a:pPr algn="l">
              <a:lnSpc>
                <a:spcPct val="100000"/>
              </a:lnSpc>
              <a:spcAft>
                <a:spcPts val="400"/>
              </a:spcAft>
            </a:pPr>
            <a:r>
              <a:rPr sz="900" b="0" i="0">
                <a:solidFill>
                  <a:srgbClr val="8A94A6"/>
                </a:solidFill>
                <a:latin typeface="Segoe UI"/>
              </a:rPr>
              <a:t>backend pytest · frontend build</a:t>
            </a:r>
          </a:p>
        </p:txBody>
      </p:sp>
      <p:sp>
        <p:nvSpPr>
          <p:cNvPr id="13" name="Rounded Rectangle 12"/>
          <p:cNvSpPr/>
          <p:nvPr/>
        </p:nvSpPr>
        <p:spPr>
          <a:xfrm>
            <a:off x="6858000" y="2871216"/>
            <a:ext cx="1920240" cy="512064"/>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00" b="1" i="0">
                <a:solidFill>
                  <a:srgbClr val="1F3864"/>
                </a:solidFill>
                <a:latin typeface="Segoe UI"/>
              </a:rPr>
              <a:t>security scan</a:t>
            </a:r>
          </a:p>
        </p:txBody>
      </p:sp>
      <p:sp>
        <p:nvSpPr>
          <p:cNvPr id="14" name="TextBox 13"/>
          <p:cNvSpPr txBox="1"/>
          <p:nvPr/>
        </p:nvSpPr>
        <p:spPr>
          <a:xfrm>
            <a:off x="8915400" y="2971800"/>
            <a:ext cx="2743200" cy="365760"/>
          </a:xfrm>
          <a:prstGeom prst="rect">
            <a:avLst/>
          </a:prstGeom>
          <a:noFill/>
        </p:spPr>
        <p:txBody>
          <a:bodyPr wrap="square" anchor="t" lIns="0" rIns="0" tIns="0" bIns="0">
            <a:spAutoFit/>
          </a:bodyPr>
          <a:lstStyle/>
          <a:p>
            <a:pPr algn="l">
              <a:lnSpc>
                <a:spcPct val="100000"/>
              </a:lnSpc>
              <a:spcAft>
                <a:spcPts val="400"/>
              </a:spcAft>
            </a:pPr>
            <a:r>
              <a:rPr sz="900" b="0" i="0">
                <a:solidFill>
                  <a:srgbClr val="8A94A6"/>
                </a:solidFill>
                <a:latin typeface="Segoe UI"/>
              </a:rPr>
              <a:t>gitleaks + trivy — blocking</a:t>
            </a:r>
          </a:p>
        </p:txBody>
      </p:sp>
      <p:sp>
        <p:nvSpPr>
          <p:cNvPr id="15" name="Rounded Rectangle 14"/>
          <p:cNvSpPr/>
          <p:nvPr/>
        </p:nvSpPr>
        <p:spPr>
          <a:xfrm>
            <a:off x="6858000" y="3493008"/>
            <a:ext cx="1920240" cy="512064"/>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00" b="1" i="0">
                <a:solidFill>
                  <a:srgbClr val="1F3864"/>
                </a:solidFill>
                <a:latin typeface="Segoe UI"/>
              </a:rPr>
              <a:t>build</a:t>
            </a:r>
          </a:p>
        </p:txBody>
      </p:sp>
      <p:sp>
        <p:nvSpPr>
          <p:cNvPr id="16" name="TextBox 15"/>
          <p:cNvSpPr txBox="1"/>
          <p:nvPr/>
        </p:nvSpPr>
        <p:spPr>
          <a:xfrm>
            <a:off x="8915400" y="3593592"/>
            <a:ext cx="2743200" cy="365760"/>
          </a:xfrm>
          <a:prstGeom prst="rect">
            <a:avLst/>
          </a:prstGeom>
          <a:noFill/>
        </p:spPr>
        <p:txBody>
          <a:bodyPr wrap="square" anchor="t" lIns="0" rIns="0" tIns="0" bIns="0">
            <a:spAutoFit/>
          </a:bodyPr>
          <a:lstStyle/>
          <a:p>
            <a:pPr algn="l">
              <a:lnSpc>
                <a:spcPct val="100000"/>
              </a:lnSpc>
              <a:spcAft>
                <a:spcPts val="400"/>
              </a:spcAft>
            </a:pPr>
            <a:r>
              <a:rPr sz="900" b="0" i="0">
                <a:solidFill>
                  <a:srgbClr val="8A94A6"/>
                </a:solidFill>
                <a:latin typeface="Segoe UI"/>
              </a:rPr>
              <a:t>Docker images for both tiers</a:t>
            </a:r>
          </a:p>
        </p:txBody>
      </p:sp>
      <p:sp>
        <p:nvSpPr>
          <p:cNvPr id="17" name="Rounded Rectangle 16"/>
          <p:cNvSpPr/>
          <p:nvPr/>
        </p:nvSpPr>
        <p:spPr>
          <a:xfrm>
            <a:off x="6858000" y="4114800"/>
            <a:ext cx="1920240" cy="512064"/>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00" b="1" i="0">
                <a:solidFill>
                  <a:srgbClr val="1F3864"/>
                </a:solidFill>
                <a:latin typeface="Segoe UI"/>
              </a:rPr>
              <a:t>deploy-dev</a:t>
            </a:r>
          </a:p>
        </p:txBody>
      </p:sp>
      <p:sp>
        <p:nvSpPr>
          <p:cNvPr id="18" name="TextBox 17"/>
          <p:cNvSpPr txBox="1"/>
          <p:nvPr/>
        </p:nvSpPr>
        <p:spPr>
          <a:xfrm>
            <a:off x="8915400" y="4215384"/>
            <a:ext cx="2743200" cy="365760"/>
          </a:xfrm>
          <a:prstGeom prst="rect">
            <a:avLst/>
          </a:prstGeom>
          <a:noFill/>
        </p:spPr>
        <p:txBody>
          <a:bodyPr wrap="square" anchor="t" lIns="0" rIns="0" tIns="0" bIns="0">
            <a:spAutoFit/>
          </a:bodyPr>
          <a:lstStyle/>
          <a:p>
            <a:pPr algn="l">
              <a:lnSpc>
                <a:spcPct val="100000"/>
              </a:lnSpc>
              <a:spcAft>
                <a:spcPts val="400"/>
              </a:spcAft>
            </a:pPr>
            <a:r>
              <a:rPr sz="900" b="0" i="0">
                <a:solidFill>
                  <a:srgbClr val="8A94A6"/>
                </a:solidFill>
                <a:latin typeface="Segoe UI"/>
              </a:rPr>
              <a:t>SSH · docker compose up -d --build</a:t>
            </a:r>
          </a:p>
        </p:txBody>
      </p:sp>
      <p:sp>
        <p:nvSpPr>
          <p:cNvPr id="19" name="Rounded Rectangle 18"/>
          <p:cNvSpPr/>
          <p:nvPr/>
        </p:nvSpPr>
        <p:spPr>
          <a:xfrm>
            <a:off x="6858000" y="4736592"/>
            <a:ext cx="1920240" cy="512064"/>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00" b="1" i="0">
                <a:solidFill>
                  <a:srgbClr val="1F3864"/>
                </a:solidFill>
                <a:latin typeface="Segoe UI"/>
              </a:rPr>
              <a:t>deploy-demo</a:t>
            </a:r>
          </a:p>
        </p:txBody>
      </p:sp>
      <p:sp>
        <p:nvSpPr>
          <p:cNvPr id="20" name="TextBox 19"/>
          <p:cNvSpPr txBox="1"/>
          <p:nvPr/>
        </p:nvSpPr>
        <p:spPr>
          <a:xfrm>
            <a:off x="8915400" y="4837176"/>
            <a:ext cx="2743200" cy="365760"/>
          </a:xfrm>
          <a:prstGeom prst="rect">
            <a:avLst/>
          </a:prstGeom>
          <a:noFill/>
        </p:spPr>
        <p:txBody>
          <a:bodyPr wrap="square" anchor="t" lIns="0" rIns="0" tIns="0" bIns="0">
            <a:spAutoFit/>
          </a:bodyPr>
          <a:lstStyle/>
          <a:p>
            <a:pPr algn="l">
              <a:lnSpc>
                <a:spcPct val="100000"/>
              </a:lnSpc>
              <a:spcAft>
                <a:spcPts val="400"/>
              </a:spcAft>
            </a:pPr>
            <a:r>
              <a:rPr sz="900" b="0" i="0">
                <a:solidFill>
                  <a:srgbClr val="8A94A6"/>
                </a:solidFill>
                <a:latin typeface="Segoe UI"/>
              </a:rPr>
              <a:t>manual gate</a:t>
            </a:r>
          </a:p>
        </p:txBody>
      </p:sp>
      <p:sp>
        <p:nvSpPr>
          <p:cNvPr id="21" name="TextBox 20"/>
          <p:cNvSpPr txBox="1"/>
          <p:nvPr/>
        </p:nvSpPr>
        <p:spPr>
          <a:xfrm>
            <a:off x="6858000" y="5376672"/>
            <a:ext cx="4754880" cy="502920"/>
          </a:xfrm>
          <a:prstGeom prst="rect">
            <a:avLst/>
          </a:prstGeom>
          <a:noFill/>
        </p:spPr>
        <p:txBody>
          <a:bodyPr wrap="square" anchor="t" lIns="0" rIns="0" tIns="0" bIns="0">
            <a:spAutoFit/>
          </a:bodyPr>
          <a:lstStyle/>
          <a:p>
            <a:pPr algn="l">
              <a:lnSpc>
                <a:spcPct val="100000"/>
              </a:lnSpc>
              <a:spcAft>
                <a:spcPts val="400"/>
              </a:spcAft>
            </a:pPr>
            <a:r>
              <a:rPr sz="1050" b="0" i="0">
                <a:solidFill>
                  <a:srgbClr val="333F50"/>
                </a:solidFill>
                <a:latin typeface="Segoe UI"/>
              </a:rPr>
              <a:t>+ Docker images for both tiers · Terraform single-VM cloud deployment (provider-portable).</a:t>
            </a:r>
          </a:p>
        </p:txBody>
      </p:sp>
      <p:sp>
        <p:nvSpPr>
          <p:cNvPr id="22" name="Rounded Rectangle 21"/>
          <p:cNvSpPr/>
          <p:nvPr/>
        </p:nvSpPr>
        <p:spPr>
          <a:xfrm>
            <a:off x="548640" y="5806440"/>
            <a:ext cx="11094720" cy="73152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150" b="1" i="0">
                <a:solidFill>
                  <a:srgbClr val="1F3864"/>
                </a:solidFill>
                <a:latin typeface="Segoe UI"/>
              </a:rPr>
              <a:t>Honest caveat: </a:t>
            </a:r>
            <a:r>
              <a:rPr sz="1150" b="0" i="0">
                <a:solidFill>
                  <a:srgbClr val="333F50"/>
                </a:solidFill>
                <a:latin typeface="Segoe UI"/>
              </a:rPr>
              <a:t>the pipeline, containers and Terraform are written and statically reviewed, but not executed — no cloud was available in the program environment. That stays on the roadmap.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4 · PROCESS</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Cross-functional collaboration — with receipts</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12</a:t>
            </a:r>
          </a:p>
        </p:txBody>
      </p:sp>
      <p:sp>
        <p:nvSpPr>
          <p:cNvPr id="7" name="Rounded Rectangle 6"/>
          <p:cNvSpPr/>
          <p:nvPr/>
        </p:nvSpPr>
        <p:spPr>
          <a:xfrm>
            <a:off x="548640" y="1371600"/>
            <a:ext cx="3575304" cy="41605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Joint artifacts</a:t>
            </a:r>
          </a:p>
        </p:txBody>
      </p:sp>
      <p:sp>
        <p:nvSpPr>
          <p:cNvPr id="8" name="TextBox 7"/>
          <p:cNvSpPr txBox="1"/>
          <p:nvPr/>
        </p:nvSpPr>
        <p:spPr>
          <a:xfrm>
            <a:off x="731520" y="1920240"/>
            <a:ext cx="3209544" cy="3474720"/>
          </a:xfrm>
          <a:prstGeom prst="rect">
            <a:avLst/>
          </a:prstGeom>
          <a:noFill/>
        </p:spPr>
        <p:txBody>
          <a:bodyPr wrap="square" lIns="0" rIns="0" tIns="0" bIns="0">
            <a:spAutoFit/>
          </a:bodyPr>
          <a:lstStyle/>
          <a:p>
            <a:pPr>
              <a:lnSpc>
                <a:spcPct val="104000"/>
              </a:lnSpc>
              <a:spcAft>
                <a:spcPts val="900"/>
              </a:spcAft>
            </a:pPr>
            <a:r>
              <a:rPr sz="1150" b="1">
                <a:solidFill>
                  <a:srgbClr val="2962FF"/>
                </a:solidFill>
                <a:latin typeface="Segoe UI"/>
              </a:rPr>
              <a:t>•  </a:t>
            </a:r>
            <a:r>
              <a:rPr sz="1150" b="1">
                <a:solidFill>
                  <a:srgbClr val="1F3864"/>
                </a:solidFill>
                <a:latin typeface="Segoe UI"/>
              </a:rPr>
              <a:t>Corporate owned </a:t>
            </a:r>
            <a:r>
              <a:rPr sz="1150" b="0">
                <a:solidFill>
                  <a:srgbClr val="333F50"/>
                </a:solidFill>
                <a:latin typeface="Segoe UI"/>
              </a:rPr>
              <a:t>SRS traceability and the stakeholder interviews.</a:t>
            </a:r>
          </a:p>
          <a:p>
            <a:pPr>
              <a:lnSpc>
                <a:spcPct val="104000"/>
              </a:lnSpc>
              <a:spcAft>
                <a:spcPts val="900"/>
              </a:spcAft>
            </a:pPr>
            <a:r>
              <a:rPr sz="1150" b="1">
                <a:solidFill>
                  <a:srgbClr val="2962FF"/>
                </a:solidFill>
                <a:latin typeface="Segoe UI"/>
              </a:rPr>
              <a:t>•  </a:t>
            </a:r>
            <a:r>
              <a:rPr sz="1150" b="1">
                <a:solidFill>
                  <a:srgbClr val="1F3864"/>
                </a:solidFill>
                <a:latin typeface="Segoe UI"/>
              </a:rPr>
              <a:t>18 open questions, </a:t>
            </a:r>
            <a:r>
              <a:rPr sz="1150" b="0">
                <a:solidFill>
                  <a:srgbClr val="333F50"/>
                </a:solidFill>
                <a:latin typeface="Segoe UI"/>
              </a:rPr>
              <a:t>each assigned to a stakeholder.</a:t>
            </a:r>
          </a:p>
          <a:p>
            <a:pPr>
              <a:lnSpc>
                <a:spcPct val="104000"/>
              </a:lnSpc>
              <a:spcAft>
                <a:spcPts val="900"/>
              </a:spcAft>
            </a:pPr>
            <a:r>
              <a:rPr sz="1150" b="1">
                <a:solidFill>
                  <a:srgbClr val="2962FF"/>
                </a:solidFill>
                <a:latin typeface="Segoe UI"/>
              </a:rPr>
              <a:t>•  </a:t>
            </a:r>
            <a:r>
              <a:rPr sz="1150" b="1">
                <a:solidFill>
                  <a:srgbClr val="1F3864"/>
                </a:solidFill>
                <a:latin typeface="Segoe UI"/>
              </a:rPr>
              <a:t>Technology owned </a:t>
            </a:r>
            <a:r>
              <a:rPr sz="1150" b="0">
                <a:solidFill>
                  <a:srgbClr val="333F50"/>
                </a:solidFill>
                <a:latin typeface="Segoe UI"/>
              </a:rPr>
              <a:t>the build.</a:t>
            </a:r>
          </a:p>
        </p:txBody>
      </p:sp>
      <p:sp>
        <p:nvSpPr>
          <p:cNvPr id="9" name="Rounded Rectangle 8"/>
          <p:cNvSpPr/>
          <p:nvPr/>
        </p:nvSpPr>
        <p:spPr>
          <a:xfrm>
            <a:off x="4306824" y="1371600"/>
            <a:ext cx="3575304" cy="41605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Equities → bonds</a:t>
            </a:r>
          </a:p>
        </p:txBody>
      </p:sp>
      <p:sp>
        <p:nvSpPr>
          <p:cNvPr id="10" name="TextBox 9"/>
          <p:cNvSpPr txBox="1"/>
          <p:nvPr/>
        </p:nvSpPr>
        <p:spPr>
          <a:xfrm>
            <a:off x="4489704" y="1920240"/>
            <a:ext cx="3209544" cy="3474720"/>
          </a:xfrm>
          <a:prstGeom prst="rect">
            <a:avLst/>
          </a:prstGeom>
          <a:noFill/>
        </p:spPr>
        <p:txBody>
          <a:bodyPr wrap="square" lIns="0" rIns="0" tIns="0" bIns="0">
            <a:spAutoFit/>
          </a:bodyPr>
          <a:lstStyle/>
          <a:p>
            <a:pPr>
              <a:lnSpc>
                <a:spcPct val="104000"/>
              </a:lnSpc>
              <a:spcAft>
                <a:spcPts val="900"/>
              </a:spcAft>
            </a:pPr>
            <a:r>
              <a:rPr sz="1150" b="1">
                <a:solidFill>
                  <a:srgbClr val="2962FF"/>
                </a:solidFill>
                <a:latin typeface="Segoe UI"/>
              </a:rPr>
              <a:t>•  </a:t>
            </a:r>
            <a:r>
              <a:rPr sz="1150" b="1">
                <a:solidFill>
                  <a:srgbClr val="1F3864"/>
                </a:solidFill>
                <a:latin typeface="Segoe UI"/>
              </a:rPr>
              <a:t>The product-owner interview: </a:t>
            </a:r>
            <a:r>
              <a:rPr sz="1150" b="0">
                <a:solidFill>
                  <a:srgbClr val="333F50"/>
                </a:solidFill>
                <a:latin typeface="Segoe UI"/>
              </a:rPr>
              <a:t>“equities only is not credible.”</a:t>
            </a:r>
          </a:p>
          <a:p>
            <a:pPr>
              <a:lnSpc>
                <a:spcPct val="104000"/>
              </a:lnSpc>
              <a:spcAft>
                <a:spcPts val="900"/>
              </a:spcAft>
            </a:pPr>
            <a:r>
              <a:rPr sz="1150" b="1">
                <a:solidFill>
                  <a:srgbClr val="2962FF"/>
                </a:solidFill>
                <a:latin typeface="Segoe UI"/>
              </a:rPr>
              <a:t>•  </a:t>
            </a:r>
            <a:r>
              <a:rPr sz="1150" b="1">
                <a:solidFill>
                  <a:srgbClr val="1F3864"/>
                </a:solidFill>
                <a:latin typeface="Segoe UI"/>
              </a:rPr>
              <a:t>Two days later </a:t>
            </a:r>
            <a:r>
              <a:rPr sz="1150" b="0">
                <a:solidFill>
                  <a:srgbClr val="333F50"/>
                </a:solidFill>
                <a:latin typeface="Segoe UI"/>
              </a:rPr>
              <a:t>the platform priced bonds properly.</a:t>
            </a:r>
          </a:p>
          <a:p>
            <a:pPr>
              <a:lnSpc>
                <a:spcPct val="104000"/>
              </a:lnSpc>
              <a:spcAft>
                <a:spcPts val="900"/>
              </a:spcAft>
            </a:pPr>
            <a:r>
              <a:rPr sz="1150" b="1">
                <a:solidFill>
                  <a:srgbClr val="2962FF"/>
                </a:solidFill>
                <a:latin typeface="Segoe UI"/>
              </a:rPr>
              <a:t>•  </a:t>
            </a:r>
            <a:r>
              <a:rPr sz="1150" b="1">
                <a:solidFill>
                  <a:srgbClr val="1F3864"/>
                </a:solidFill>
                <a:latin typeface="Segoe UI"/>
              </a:rPr>
              <a:t>Quoted as percent of par, </a:t>
            </a:r>
            <a:r>
              <a:rPr sz="1150" b="0">
                <a:solidFill>
                  <a:srgbClr val="333F50"/>
                </a:solidFill>
                <a:latin typeface="Segoe UI"/>
              </a:rPr>
              <a:t>with correct cash math.</a:t>
            </a:r>
          </a:p>
        </p:txBody>
      </p:sp>
      <p:sp>
        <p:nvSpPr>
          <p:cNvPr id="11" name="Rounded Rectangle 10"/>
          <p:cNvSpPr/>
          <p:nvPr/>
        </p:nvSpPr>
        <p:spPr>
          <a:xfrm>
            <a:off x="8065008" y="1371600"/>
            <a:ext cx="3575304" cy="41605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The “single-click” misalignment</a:t>
            </a:r>
          </a:p>
        </p:txBody>
      </p:sp>
      <p:sp>
        <p:nvSpPr>
          <p:cNvPr id="12" name="TextBox 11"/>
          <p:cNvSpPr txBox="1"/>
          <p:nvPr/>
        </p:nvSpPr>
        <p:spPr>
          <a:xfrm>
            <a:off x="8247888" y="1920240"/>
            <a:ext cx="3209544" cy="1371600"/>
          </a:xfrm>
          <a:prstGeom prst="rect">
            <a:avLst/>
          </a:prstGeom>
          <a:noFill/>
        </p:spPr>
        <p:txBody>
          <a:bodyPr wrap="square" lIns="0" rIns="0" tIns="0" bIns="0">
            <a:spAutoFit/>
          </a:bodyPr>
          <a:lstStyle/>
          <a:p>
            <a:pPr>
              <a:lnSpc>
                <a:spcPct val="104000"/>
              </a:lnSpc>
              <a:spcAft>
                <a:spcPts val="900"/>
              </a:spcAft>
            </a:pPr>
            <a:r>
              <a:rPr sz="1150" b="1">
                <a:solidFill>
                  <a:srgbClr val="2962FF"/>
                </a:solidFill>
                <a:latin typeface="Segoe UI"/>
              </a:rPr>
              <a:t>•  </a:t>
            </a:r>
            <a:r>
              <a:rPr sz="1150" b="1">
                <a:solidFill>
                  <a:srgbClr val="1F3864"/>
                </a:solidFill>
                <a:latin typeface="Segoe UI"/>
              </a:rPr>
              <a:t>Technology heard </a:t>
            </a:r>
            <a:r>
              <a:rPr sz="1150" b="0">
                <a:solidFill>
                  <a:srgbClr val="333F50"/>
                </a:solidFill>
                <a:latin typeface="Segoe UI"/>
              </a:rPr>
              <a:t>one click.</a:t>
            </a:r>
          </a:p>
          <a:p>
            <a:pPr>
              <a:lnSpc>
                <a:spcPct val="104000"/>
              </a:lnSpc>
              <a:spcAft>
                <a:spcPts val="900"/>
              </a:spcAft>
            </a:pPr>
            <a:r>
              <a:rPr sz="1150" b="1">
                <a:solidFill>
                  <a:srgbClr val="2962FF"/>
                </a:solidFill>
                <a:latin typeface="Segoe UI"/>
              </a:rPr>
              <a:t>•  </a:t>
            </a:r>
            <a:r>
              <a:rPr sz="1150" b="1">
                <a:solidFill>
                  <a:srgbClr val="1F3864"/>
                </a:solidFill>
                <a:latin typeface="Segoe UI"/>
              </a:rPr>
              <a:t>The business meant </a:t>
            </a:r>
            <a:r>
              <a:rPr sz="1150" b="0">
                <a:solidFill>
                  <a:srgbClr val="333F50"/>
                </a:solidFill>
                <a:latin typeface="Segoe UI"/>
              </a:rPr>
              <a:t>one informed decision.</a:t>
            </a:r>
          </a:p>
        </p:txBody>
      </p:sp>
      <p:sp>
        <p:nvSpPr>
          <p:cNvPr id="13" name="Chevron 12"/>
          <p:cNvSpPr/>
          <p:nvPr/>
        </p:nvSpPr>
        <p:spPr>
          <a:xfrm>
            <a:off x="8229600" y="3291840"/>
            <a:ext cx="914400" cy="777240"/>
          </a:xfrm>
          <a:prstGeom prst="chevron">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900" b="1" i="0">
                <a:solidFill>
                  <a:srgbClr val="1F3864"/>
                </a:solidFill>
                <a:latin typeface="Segoe UI"/>
              </a:rPr>
              <a:t>click to arm</a:t>
            </a:r>
          </a:p>
        </p:txBody>
      </p:sp>
      <p:sp>
        <p:nvSpPr>
          <p:cNvPr id="14" name="Chevron 13"/>
          <p:cNvSpPr/>
          <p:nvPr/>
        </p:nvSpPr>
        <p:spPr>
          <a:xfrm>
            <a:off x="9198864" y="3291840"/>
            <a:ext cx="1417320" cy="777240"/>
          </a:xfrm>
          <a:prstGeom prst="chevron">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900" b="1" i="0">
                <a:solidFill>
                  <a:srgbClr val="1F3864"/>
                </a:solidFill>
                <a:latin typeface="Segoe UI"/>
              </a:rPr>
              <a:t>confirmation card — full cost impact</a:t>
            </a:r>
          </a:p>
        </p:txBody>
      </p:sp>
      <p:sp>
        <p:nvSpPr>
          <p:cNvPr id="15" name="Chevron 14"/>
          <p:cNvSpPr/>
          <p:nvPr/>
        </p:nvSpPr>
        <p:spPr>
          <a:xfrm>
            <a:off x="10671048" y="3291840"/>
            <a:ext cx="914400" cy="777240"/>
          </a:xfrm>
          <a:prstGeom prst="chevron">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900" b="1" i="0">
                <a:solidFill>
                  <a:srgbClr val="1F3864"/>
                </a:solidFill>
                <a:latin typeface="Segoe UI"/>
              </a:rPr>
              <a:t>click to submit</a:t>
            </a:r>
          </a:p>
        </p:txBody>
      </p:sp>
      <p:sp>
        <p:nvSpPr>
          <p:cNvPr id="16" name="TextBox 15"/>
          <p:cNvSpPr txBox="1"/>
          <p:nvPr/>
        </p:nvSpPr>
        <p:spPr>
          <a:xfrm>
            <a:off x="8247888" y="4343400"/>
            <a:ext cx="3209544" cy="1005840"/>
          </a:xfrm>
          <a:prstGeom prst="rect">
            <a:avLst/>
          </a:prstGeom>
          <a:noFill/>
        </p:spPr>
        <p:txBody>
          <a:bodyPr wrap="square" anchor="t" lIns="0" rIns="0" tIns="0" bIns="0">
            <a:spAutoFit/>
          </a:bodyPr>
          <a:lstStyle/>
          <a:p>
            <a:pPr algn="l">
              <a:lnSpc>
                <a:spcPct val="100000"/>
              </a:lnSpc>
              <a:spcAft>
                <a:spcPts val="400"/>
              </a:spcAft>
            </a:pPr>
            <a:r>
              <a:rPr sz="1100" b="1" i="0">
                <a:solidFill>
                  <a:srgbClr val="333F50"/>
                </a:solidFill>
                <a:latin typeface="Segoe UI"/>
              </a:rPr>
              <a:t>The resolution was the two-click flow:</a:t>
            </a:r>
          </a:p>
          <a:p>
            <a:pPr algn="l">
              <a:lnSpc>
                <a:spcPct val="100000"/>
              </a:lnSpc>
              <a:spcAft>
                <a:spcPts val="400"/>
              </a:spcAft>
            </a:pPr>
            <a:r>
              <a:rPr sz="1150" b="0" i="1">
                <a:solidFill>
                  <a:srgbClr val="2962FF"/>
                </a:solidFill>
                <a:latin typeface="Segoe UI"/>
              </a:rPr>
              <a:t>“Faster than a ticket, safer than a blind click.”</a:t>
            </a:r>
          </a:p>
        </p:txBody>
      </p:sp>
      <p:sp>
        <p:nvSpPr>
          <p:cNvPr id="17" name="Rounded Rectangle 16"/>
          <p:cNvSpPr/>
          <p:nvPr/>
        </p:nvSpPr>
        <p:spPr>
          <a:xfrm>
            <a:off x="548640" y="5806440"/>
            <a:ext cx="11094720" cy="54864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150" b="0" i="0">
                <a:solidFill>
                  <a:srgbClr val="333F50"/>
                </a:solidFill>
                <a:latin typeface="Segoe UI"/>
              </a:rPr>
              <a:t>Day to day: corporate analysts owned requirements and interviews; technology owned the build — one team, one backlog.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5 · RETROSPECTIVE</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Challenges &amp; solutions — three war stories</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13</a:t>
            </a:r>
          </a:p>
        </p:txBody>
      </p:sp>
      <p:sp>
        <p:nvSpPr>
          <p:cNvPr id="7" name="Rounded Rectangle 6"/>
          <p:cNvSpPr/>
          <p:nvPr/>
        </p:nvSpPr>
        <p:spPr>
          <a:xfrm>
            <a:off x="548640" y="1325880"/>
            <a:ext cx="11094720"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lnSpc>
                <a:spcPct val="100000"/>
              </a:lnSpc>
              <a:spcAft>
                <a:spcPts val="200"/>
              </a:spcAft>
            </a:pPr>
            <a:r>
              <a:rPr sz="1250" b="1" i="0">
                <a:solidFill>
                  <a:srgbClr val="1F3864"/>
                </a:solidFill>
                <a:latin typeface="Segoe UI"/>
              </a:rPr>
              <a:t>The dataset that silently didn't load</a:t>
            </a:r>
          </a:p>
        </p:txBody>
      </p:sp>
      <p:sp>
        <p:nvSpPr>
          <p:cNvPr id="8" name="TextBox 7"/>
          <p:cNvSpPr txBox="1"/>
          <p:nvPr/>
        </p:nvSpPr>
        <p:spPr>
          <a:xfrm>
            <a:off x="713232" y="1801368"/>
            <a:ext cx="6858000" cy="960120"/>
          </a:xfrm>
          <a:prstGeom prst="rect">
            <a:avLst/>
          </a:prstGeom>
          <a:noFill/>
        </p:spPr>
        <p:txBody>
          <a:bodyPr wrap="square" anchor="t" lIns="0" rIns="0" tIns="0" bIns="0">
            <a:spAutoFit/>
          </a:bodyPr>
          <a:lstStyle/>
          <a:p>
            <a:pPr algn="l">
              <a:lnSpc>
                <a:spcPct val="105000"/>
              </a:lnSpc>
              <a:spcAft>
                <a:spcPts val="400"/>
              </a:spcAft>
            </a:pPr>
            <a:r>
              <a:rPr sz="1050" b="0" i="0">
                <a:solidFill>
                  <a:srgbClr val="333F50"/>
                </a:solidFill>
                <a:latin typeface="Segoe UI"/>
              </a:rPr>
              <a:t>After switching to the real dataset, every stock showed “No price data.” Legacy rows from an old dev database made the loader's global “is the table empty?” check skip the entire tick load.</a:t>
            </a:r>
          </a:p>
        </p:txBody>
      </p:sp>
      <p:sp>
        <p:nvSpPr>
          <p:cNvPr id="9" name="Rounded Rectangle 8"/>
          <p:cNvSpPr/>
          <p:nvPr/>
        </p:nvSpPr>
        <p:spPr>
          <a:xfrm>
            <a:off x="7818120" y="1453896"/>
            <a:ext cx="3657600" cy="1225296"/>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Aft>
                <a:spcPts val="200"/>
              </a:spcAft>
            </a:pPr>
            <a:r>
              <a:rPr sz="1050" b="1" i="0">
                <a:solidFill>
                  <a:srgbClr val="1F3864"/>
                </a:solidFill>
                <a:latin typeface="Segoe UI"/>
              </a:rPr>
              <a:t>Fix — </a:t>
            </a:r>
            <a:r>
              <a:rPr sz="1050" b="0" i="0">
                <a:solidFill>
                  <a:srgbClr val="333F50"/>
                </a:solidFill>
                <a:latin typeface="Segoe UI"/>
              </a:rPr>
              <a:t>Found by inspecting the database, not by guessing; load per symbol, with a regression test.</a:t>
            </a:r>
          </a:p>
        </p:txBody>
      </p:sp>
      <p:sp>
        <p:nvSpPr>
          <p:cNvPr id="10" name="Rounded Rectangle 9"/>
          <p:cNvSpPr/>
          <p:nvPr/>
        </p:nvSpPr>
        <p:spPr>
          <a:xfrm>
            <a:off x="548640" y="2990088"/>
            <a:ext cx="11094720"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lnSpc>
                <a:spcPct val="100000"/>
              </a:lnSpc>
              <a:spcAft>
                <a:spcPts val="200"/>
              </a:spcAft>
            </a:pPr>
            <a:r>
              <a:rPr sz="1250" b="1" i="0">
                <a:solidFill>
                  <a:srgbClr val="1F3864"/>
                </a:solidFill>
                <a:latin typeface="Segoe UI"/>
              </a:rPr>
              <a:t>The test that only failed after midnight</a:t>
            </a:r>
          </a:p>
        </p:txBody>
      </p:sp>
      <p:sp>
        <p:nvSpPr>
          <p:cNvPr id="11" name="TextBox 10"/>
          <p:cNvSpPr txBox="1"/>
          <p:nvPr/>
        </p:nvSpPr>
        <p:spPr>
          <a:xfrm>
            <a:off x="713232" y="3465576"/>
            <a:ext cx="6858000" cy="960120"/>
          </a:xfrm>
          <a:prstGeom prst="rect">
            <a:avLst/>
          </a:prstGeom>
          <a:noFill/>
        </p:spPr>
        <p:txBody>
          <a:bodyPr wrap="square" anchor="t" lIns="0" rIns="0" tIns="0" bIns="0">
            <a:spAutoFit/>
          </a:bodyPr>
          <a:lstStyle/>
          <a:p>
            <a:pPr algn="l">
              <a:lnSpc>
                <a:spcPct val="105000"/>
              </a:lnSpc>
              <a:spcAft>
                <a:spcPts val="400"/>
              </a:spcAft>
            </a:pPr>
            <a:r>
              <a:rPr sz="1050" b="0" i="0">
                <a:solidFill>
                  <a:srgbClr val="333F50"/>
                </a:solidFill>
                <a:latin typeface="Segoe UI"/>
              </a:rPr>
              <a:t>A news fixture used relative-to-now timestamps; between midnight and 2 a.m. UTC the two items straddled a day boundary and the suite went red. It only ever passed because of the hour it ran.</a:t>
            </a:r>
          </a:p>
        </p:txBody>
      </p:sp>
      <p:sp>
        <p:nvSpPr>
          <p:cNvPr id="12" name="Rounded Rectangle 11"/>
          <p:cNvSpPr/>
          <p:nvPr/>
        </p:nvSpPr>
        <p:spPr>
          <a:xfrm>
            <a:off x="7818120" y="3118104"/>
            <a:ext cx="3657600" cy="1225296"/>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Aft>
                <a:spcPts val="200"/>
              </a:spcAft>
            </a:pPr>
            <a:r>
              <a:rPr sz="1050" b="1" i="0">
                <a:solidFill>
                  <a:srgbClr val="1F3864"/>
                </a:solidFill>
                <a:latin typeface="Segoe UI"/>
              </a:rPr>
              <a:t>Fix — </a:t>
            </a:r>
            <a:r>
              <a:rPr sz="1050" b="0" i="0">
                <a:solidFill>
                  <a:srgbClr val="333F50"/>
                </a:solidFill>
                <a:latin typeface="Segoe UI"/>
              </a:rPr>
              <a:t>Anchored deterministically — and we re-audited every time-sensitive test.</a:t>
            </a:r>
          </a:p>
        </p:txBody>
      </p:sp>
      <p:sp>
        <p:nvSpPr>
          <p:cNvPr id="13" name="Rounded Rectangle 12"/>
          <p:cNvSpPr/>
          <p:nvPr/>
        </p:nvSpPr>
        <p:spPr>
          <a:xfrm>
            <a:off x="548640" y="4654296"/>
            <a:ext cx="11094720" cy="14813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lnSpc>
                <a:spcPct val="100000"/>
              </a:lnSpc>
              <a:spcAft>
                <a:spcPts val="200"/>
              </a:spcAft>
            </a:pPr>
            <a:r>
              <a:rPr sz="1250" b="1" i="0">
                <a:solidFill>
                  <a:srgbClr val="1F3864"/>
                </a:solidFill>
                <a:latin typeface="Segoe UI"/>
              </a:rPr>
              <a:t>Real-time wasn't a library import</a:t>
            </a:r>
          </a:p>
        </p:txBody>
      </p:sp>
      <p:sp>
        <p:nvSpPr>
          <p:cNvPr id="14" name="TextBox 13"/>
          <p:cNvSpPr txBox="1"/>
          <p:nvPr/>
        </p:nvSpPr>
        <p:spPr>
          <a:xfrm>
            <a:off x="713232" y="5129784"/>
            <a:ext cx="6858000" cy="960120"/>
          </a:xfrm>
          <a:prstGeom prst="rect">
            <a:avLst/>
          </a:prstGeom>
          <a:noFill/>
        </p:spPr>
        <p:txBody>
          <a:bodyPr wrap="square" anchor="t" lIns="0" rIns="0" tIns="0" bIns="0">
            <a:spAutoFit/>
          </a:bodyPr>
          <a:lstStyle/>
          <a:p>
            <a:pPr algn="l">
              <a:lnSpc>
                <a:spcPct val="105000"/>
              </a:lnSpc>
              <a:spcAft>
                <a:spcPts val="400"/>
              </a:spcAft>
            </a:pPr>
            <a:r>
              <a:rPr sz="1050" b="0" i="0">
                <a:solidFill>
                  <a:srgbClr val="333F50"/>
                </a:solidFill>
                <a:latin typeface="Segoe UI"/>
              </a:rPr>
              <a:t>Cancellations mid-database-call could wedge the event loop, and naive datetimes compared *silently* wrong against timezone-aware ones.</a:t>
            </a:r>
          </a:p>
        </p:txBody>
      </p:sp>
      <p:sp>
        <p:nvSpPr>
          <p:cNvPr id="15" name="Rounded Rectangle 14"/>
          <p:cNvSpPr/>
          <p:nvPr/>
        </p:nvSpPr>
        <p:spPr>
          <a:xfrm>
            <a:off x="7818120" y="4782312"/>
            <a:ext cx="3657600" cy="1225296"/>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Aft>
                <a:spcPts val="200"/>
              </a:spcAft>
            </a:pPr>
            <a:r>
              <a:rPr sz="1050" b="1" i="0">
                <a:solidFill>
                  <a:srgbClr val="1F3864"/>
                </a:solidFill>
                <a:latin typeface="Segoe UI"/>
              </a:rPr>
              <a:t>Fix — </a:t>
            </a:r>
            <a:r>
              <a:rPr sz="1050" b="0" i="0">
                <a:solidFill>
                  <a:srgbClr val="333F50"/>
                </a:solidFill>
                <a:latin typeface="Segoe UI"/>
              </a:rPr>
              <a:t>Both are now documented pitfalls, with fixes and tests behind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5 · RETROSPECTIVE</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What worked / what didn't</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14</a:t>
            </a:r>
          </a:p>
        </p:txBody>
      </p:sp>
      <p:sp>
        <p:nvSpPr>
          <p:cNvPr id="7" name="Rounded Rectangle 6"/>
          <p:cNvSpPr/>
          <p:nvPr/>
        </p:nvSpPr>
        <p:spPr>
          <a:xfrm>
            <a:off x="548640" y="1371600"/>
            <a:ext cx="5440680" cy="47091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500" b="1" i="0">
                <a:solidFill>
                  <a:srgbClr val="2962FF"/>
                </a:solidFill>
                <a:latin typeface="Segoe UI"/>
              </a:rPr>
              <a:t>What worked</a:t>
            </a:r>
          </a:p>
        </p:txBody>
      </p:sp>
      <p:sp>
        <p:nvSpPr>
          <p:cNvPr id="8" name="TextBox 7"/>
          <p:cNvSpPr txBox="1"/>
          <p:nvPr/>
        </p:nvSpPr>
        <p:spPr>
          <a:xfrm>
            <a:off x="731520" y="1965960"/>
            <a:ext cx="5074920" cy="3931920"/>
          </a:xfrm>
          <a:prstGeom prst="rect">
            <a:avLst/>
          </a:prstGeom>
          <a:noFill/>
        </p:spPr>
        <p:txBody>
          <a:bodyPr wrap="square" lIns="0" rIns="0" tIns="0" bIns="0">
            <a:spAutoFit/>
          </a:bodyPr>
          <a:lstStyle/>
          <a:p>
            <a:pPr>
              <a:lnSpc>
                <a:spcPct val="104000"/>
              </a:lnSpc>
              <a:spcAft>
                <a:spcPts val="1200"/>
              </a:spcAft>
            </a:pPr>
            <a:r>
              <a:rPr sz="1200" b="1">
                <a:solidFill>
                  <a:srgbClr val="2962FF"/>
                </a:solidFill>
                <a:latin typeface="Segoe UI"/>
              </a:rPr>
              <a:t>•  </a:t>
            </a:r>
            <a:r>
              <a:rPr sz="1200" b="1">
                <a:solidFill>
                  <a:srgbClr val="1F3864"/>
                </a:solidFill>
                <a:latin typeface="Segoe UI"/>
              </a:rPr>
              <a:t>Design-first: </a:t>
            </a:r>
            <a:r>
              <a:rPr sz="1200" b="0">
                <a:solidFill>
                  <a:srgbClr val="333F50"/>
                </a:solidFill>
                <a:latin typeface="Segoe UI"/>
              </a:rPr>
              <a:t>24 design docs meant feedback rounds changed documents before they changed code.</a:t>
            </a:r>
          </a:p>
          <a:p>
            <a:pPr>
              <a:lnSpc>
                <a:spcPct val="104000"/>
              </a:lnSpc>
              <a:spcAft>
                <a:spcPts val="1200"/>
              </a:spcAft>
            </a:pPr>
            <a:r>
              <a:rPr sz="1200" b="1">
                <a:solidFill>
                  <a:srgbClr val="2962FF"/>
                </a:solidFill>
                <a:latin typeface="Segoe UI"/>
              </a:rPr>
              <a:t>•  </a:t>
            </a:r>
            <a:r>
              <a:rPr sz="1200" b="1">
                <a:solidFill>
                  <a:srgbClr val="1F3864"/>
                </a:solidFill>
                <a:latin typeface="Segoe UI"/>
              </a:rPr>
              <a:t>The event pipeline: </a:t>
            </a:r>
            <a:r>
              <a:rPr sz="1200" b="0">
                <a:solidFill>
                  <a:srgbClr val="333F50"/>
                </a:solidFill>
                <a:latin typeface="Segoe UI"/>
              </a:rPr>
              <a:t>the STP flow never needed a manual hack.</a:t>
            </a:r>
          </a:p>
          <a:p>
            <a:pPr>
              <a:lnSpc>
                <a:spcPct val="104000"/>
              </a:lnSpc>
              <a:spcAft>
                <a:spcPts val="1200"/>
              </a:spcAft>
            </a:pPr>
            <a:r>
              <a:rPr sz="1200" b="1">
                <a:solidFill>
                  <a:srgbClr val="2962FF"/>
                </a:solidFill>
                <a:latin typeface="Segoe UI"/>
              </a:rPr>
              <a:t>•  </a:t>
            </a:r>
            <a:r>
              <a:rPr sz="1200" b="1">
                <a:solidFill>
                  <a:srgbClr val="1F3864"/>
                </a:solidFill>
                <a:latin typeface="Segoe UI"/>
              </a:rPr>
              <a:t>Verification discipline: </a:t>
            </a:r>
            <a:r>
              <a:rPr sz="1200" b="0">
                <a:solidFill>
                  <a:srgbClr val="333F50"/>
                </a:solidFill>
                <a:latin typeface="Segoe UI"/>
              </a:rPr>
              <a:t>87 tests, a strict build, and screenshot-verified UI rounds.</a:t>
            </a:r>
          </a:p>
        </p:txBody>
      </p:sp>
      <p:sp>
        <p:nvSpPr>
          <p:cNvPr id="9" name="Rounded Rectangle 8"/>
          <p:cNvSpPr/>
          <p:nvPr/>
        </p:nvSpPr>
        <p:spPr>
          <a:xfrm>
            <a:off x="6199632" y="1371600"/>
            <a:ext cx="5440680" cy="47091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500" b="1" i="0">
                <a:solidFill>
                  <a:srgbClr val="8A94A6"/>
                </a:solidFill>
                <a:latin typeface="Segoe UI"/>
              </a:rPr>
              <a:t>What didn't</a:t>
            </a:r>
          </a:p>
        </p:txBody>
      </p:sp>
      <p:sp>
        <p:nvSpPr>
          <p:cNvPr id="10" name="TextBox 9"/>
          <p:cNvSpPr txBox="1"/>
          <p:nvPr/>
        </p:nvSpPr>
        <p:spPr>
          <a:xfrm>
            <a:off x="6382512" y="1965960"/>
            <a:ext cx="5074920" cy="3931920"/>
          </a:xfrm>
          <a:prstGeom prst="rect">
            <a:avLst/>
          </a:prstGeom>
          <a:noFill/>
        </p:spPr>
        <p:txBody>
          <a:bodyPr wrap="square" lIns="0" rIns="0" tIns="0" bIns="0">
            <a:spAutoFit/>
          </a:bodyPr>
          <a:lstStyle/>
          <a:p>
            <a:pPr>
              <a:lnSpc>
                <a:spcPct val="104000"/>
              </a:lnSpc>
              <a:spcAft>
                <a:spcPts val="1200"/>
              </a:spcAft>
            </a:pPr>
            <a:r>
              <a:rPr sz="1200" b="1">
                <a:solidFill>
                  <a:srgbClr val="2962FF"/>
                </a:solidFill>
                <a:latin typeface="Segoe UI"/>
              </a:rPr>
              <a:t>•  </a:t>
            </a:r>
            <a:r>
              <a:rPr sz="1200" b="1">
                <a:solidFill>
                  <a:srgbClr val="1F3864"/>
                </a:solidFill>
                <a:latin typeface="Segoe UI"/>
              </a:rPr>
              <a:t>No frontend tests: </a:t>
            </a:r>
            <a:r>
              <a:rPr sz="1200" b="0">
                <a:solidFill>
                  <a:srgbClr val="333F50"/>
                </a:solidFill>
                <a:latin typeface="Segoe UI"/>
              </a:rPr>
              <a:t>UI quality rests on build strictness and manual verification.</a:t>
            </a:r>
          </a:p>
          <a:p>
            <a:pPr>
              <a:lnSpc>
                <a:spcPct val="104000"/>
              </a:lnSpc>
              <a:spcAft>
                <a:spcPts val="1200"/>
              </a:spcAft>
            </a:pPr>
            <a:r>
              <a:rPr sz="1200" b="1">
                <a:solidFill>
                  <a:srgbClr val="2962FF"/>
                </a:solidFill>
                <a:latin typeface="Segoe UI"/>
              </a:rPr>
              <a:t>•  </a:t>
            </a:r>
            <a:r>
              <a:rPr sz="1200" b="1">
                <a:solidFill>
                  <a:srgbClr val="1F3864"/>
                </a:solidFill>
                <a:latin typeface="Segoe UI"/>
              </a:rPr>
              <a:t>Deployment stack unexecuted: </a:t>
            </a:r>
            <a:r>
              <a:rPr sz="1200" b="0">
                <a:solidFill>
                  <a:srgbClr val="333F50"/>
                </a:solidFill>
                <a:latin typeface="Segoe UI"/>
              </a:rPr>
              <a:t>no cloud in the program environment.</a:t>
            </a:r>
          </a:p>
          <a:p>
            <a:pPr>
              <a:lnSpc>
                <a:spcPct val="104000"/>
              </a:lnSpc>
              <a:spcAft>
                <a:spcPts val="1200"/>
              </a:spcAft>
            </a:pPr>
            <a:r>
              <a:rPr sz="1200" b="1">
                <a:solidFill>
                  <a:srgbClr val="2962FF"/>
                </a:solidFill>
                <a:latin typeface="Segoe UI"/>
              </a:rPr>
              <a:t>•  </a:t>
            </a:r>
            <a:r>
              <a:rPr sz="1200" b="1">
                <a:solidFill>
                  <a:srgbClr val="1F3864"/>
                </a:solidFill>
                <a:latin typeface="Segoe UI"/>
              </a:rPr>
              <a:t>GenAI reality check: </a:t>
            </a:r>
            <a:r>
              <a:rPr sz="1200" b="0">
                <a:solidFill>
                  <a:srgbClr val="333F50"/>
                </a:solidFill>
                <a:latin typeface="Segoe UI"/>
              </a:rPr>
              <a:t>a rule-based assistant is robust and honest, but it is not a language model — the summary-quality ceiling is real, and that's a phase-2 decision, not a bug.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6 · LEARNINGS</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Key learnings</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15</a:t>
            </a:r>
          </a:p>
        </p:txBody>
      </p:sp>
      <p:sp>
        <p:nvSpPr>
          <p:cNvPr id="7" name="Rounded Rectangle 6"/>
          <p:cNvSpPr/>
          <p:nvPr/>
        </p:nvSpPr>
        <p:spPr>
          <a:xfrm>
            <a:off x="548640" y="1371600"/>
            <a:ext cx="3575304" cy="44805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Technical</a:t>
            </a:r>
          </a:p>
        </p:txBody>
      </p:sp>
      <p:sp>
        <p:nvSpPr>
          <p:cNvPr id="8" name="TextBox 7"/>
          <p:cNvSpPr txBox="1"/>
          <p:nvPr/>
        </p:nvSpPr>
        <p:spPr>
          <a:xfrm>
            <a:off x="731520" y="1965960"/>
            <a:ext cx="3209544" cy="3657600"/>
          </a:xfrm>
          <a:prstGeom prst="rect">
            <a:avLst/>
          </a:prstGeom>
          <a:noFill/>
        </p:spPr>
        <p:txBody>
          <a:bodyPr wrap="square" lIns="0" rIns="0" tIns="0" bIns="0">
            <a:spAutoFit/>
          </a:bodyPr>
          <a:lstStyle/>
          <a:p>
            <a:pPr>
              <a:lnSpc>
                <a:spcPct val="104000"/>
              </a:lnSpc>
              <a:spcAft>
                <a:spcPts val="1100"/>
              </a:spcAft>
            </a:pPr>
            <a:r>
              <a:rPr sz="1150" b="1">
                <a:solidFill>
                  <a:srgbClr val="2962FF"/>
                </a:solidFill>
                <a:latin typeface="Segoe UI"/>
              </a:rPr>
              <a:t>•  </a:t>
            </a:r>
            <a:r>
              <a:rPr sz="1150" b="1">
                <a:solidFill>
                  <a:srgbClr val="1F3864"/>
                </a:solidFill>
                <a:latin typeface="Segoe UI"/>
              </a:rPr>
              <a:t>Event-driven design pays for itself </a:t>
            </a:r>
            <a:r>
              <a:rPr sz="1150" b="0">
                <a:solidFill>
                  <a:srgbClr val="333F50"/>
                </a:solidFill>
                <a:latin typeface="Segoe UI"/>
              </a:rPr>
              <a:t>the first time a requirement changes mid-project — trailing stops and report scheduling slotted into the existing pipeline.</a:t>
            </a:r>
          </a:p>
          <a:p>
            <a:pPr>
              <a:lnSpc>
                <a:spcPct val="104000"/>
              </a:lnSpc>
              <a:spcAft>
                <a:spcPts val="1100"/>
              </a:spcAft>
            </a:pPr>
            <a:r>
              <a:rPr sz="1150" b="1">
                <a:solidFill>
                  <a:srgbClr val="2962FF"/>
                </a:solidFill>
                <a:latin typeface="Segoe UI"/>
              </a:rPr>
              <a:t>•  </a:t>
            </a:r>
            <a:r>
              <a:rPr sz="1150" b="1">
                <a:solidFill>
                  <a:srgbClr val="1F3864"/>
                </a:solidFill>
                <a:latin typeface="Segoe UI"/>
              </a:rPr>
              <a:t>GenAI in production </a:t>
            </a:r>
            <a:r>
              <a:rPr sz="1150" b="0">
                <a:solidFill>
                  <a:srgbClr val="333F50"/>
                </a:solidFill>
                <a:latin typeface="Segoe UI"/>
              </a:rPr>
              <a:t>is a guardrail problem before it's a model problem.</a:t>
            </a:r>
          </a:p>
        </p:txBody>
      </p:sp>
      <p:sp>
        <p:nvSpPr>
          <p:cNvPr id="9" name="Rounded Rectangle 8"/>
          <p:cNvSpPr/>
          <p:nvPr/>
        </p:nvSpPr>
        <p:spPr>
          <a:xfrm>
            <a:off x="4306824" y="1371600"/>
            <a:ext cx="3575304" cy="44805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Domain</a:t>
            </a:r>
          </a:p>
        </p:txBody>
      </p:sp>
      <p:sp>
        <p:nvSpPr>
          <p:cNvPr id="10" name="TextBox 9"/>
          <p:cNvSpPr txBox="1"/>
          <p:nvPr/>
        </p:nvSpPr>
        <p:spPr>
          <a:xfrm>
            <a:off x="4489704" y="1965960"/>
            <a:ext cx="3209544" cy="3657600"/>
          </a:xfrm>
          <a:prstGeom prst="rect">
            <a:avLst/>
          </a:prstGeom>
          <a:noFill/>
        </p:spPr>
        <p:txBody>
          <a:bodyPr wrap="square" lIns="0" rIns="0" tIns="0" bIns="0">
            <a:spAutoFit/>
          </a:bodyPr>
          <a:lstStyle/>
          <a:p>
            <a:pPr>
              <a:lnSpc>
                <a:spcPct val="104000"/>
              </a:lnSpc>
              <a:spcAft>
                <a:spcPts val="1100"/>
              </a:spcAft>
            </a:pPr>
            <a:r>
              <a:rPr sz="1150" b="1">
                <a:solidFill>
                  <a:srgbClr val="2962FF"/>
                </a:solidFill>
                <a:latin typeface="Segoe UI"/>
              </a:rPr>
              <a:t>•  </a:t>
            </a:r>
            <a:r>
              <a:rPr sz="1150" b="1">
                <a:solidFill>
                  <a:srgbClr val="1F3864"/>
                </a:solidFill>
                <a:latin typeface="Segoe UI"/>
              </a:rPr>
              <a:t>Settlement is a workflow, not a status field — </a:t>
            </a:r>
            <a:r>
              <a:rPr sz="1150" b="0">
                <a:solidFill>
                  <a:srgbClr val="333F50"/>
                </a:solidFill>
                <a:latin typeface="Segoe UI"/>
              </a:rPr>
              <a:t>the corporate mapping of affirm/settle semantics made the STP demo credible.</a:t>
            </a:r>
          </a:p>
          <a:p>
            <a:pPr>
              <a:lnSpc>
                <a:spcPct val="104000"/>
              </a:lnSpc>
              <a:spcAft>
                <a:spcPts val="1100"/>
              </a:spcAft>
            </a:pPr>
            <a:r>
              <a:rPr sz="1150" b="1">
                <a:solidFill>
                  <a:srgbClr val="2962FF"/>
                </a:solidFill>
                <a:latin typeface="Segoe UI"/>
              </a:rPr>
              <a:t>•  </a:t>
            </a:r>
            <a:r>
              <a:rPr sz="1150" b="1">
                <a:solidFill>
                  <a:srgbClr val="1F3864"/>
                </a:solidFill>
                <a:latin typeface="Segoe UI"/>
              </a:rPr>
              <a:t>A bond is not a stock with a different symbol — </a:t>
            </a:r>
            <a:r>
              <a:rPr sz="1150" b="0">
                <a:solidFill>
                  <a:srgbClr val="333F50"/>
                </a:solidFill>
                <a:latin typeface="Segoe UI"/>
              </a:rPr>
              <a:t>percent-of-par quoting, yield and duration had to be first-class.</a:t>
            </a:r>
          </a:p>
        </p:txBody>
      </p:sp>
      <p:sp>
        <p:nvSpPr>
          <p:cNvPr id="11" name="Rounded Rectangle 10"/>
          <p:cNvSpPr/>
          <p:nvPr/>
        </p:nvSpPr>
        <p:spPr>
          <a:xfrm>
            <a:off x="8065008" y="1371600"/>
            <a:ext cx="3575304" cy="448056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Professional</a:t>
            </a:r>
          </a:p>
        </p:txBody>
      </p:sp>
      <p:sp>
        <p:nvSpPr>
          <p:cNvPr id="12" name="TextBox 11"/>
          <p:cNvSpPr txBox="1"/>
          <p:nvPr/>
        </p:nvSpPr>
        <p:spPr>
          <a:xfrm>
            <a:off x="8247888" y="1965960"/>
            <a:ext cx="3209544" cy="3657600"/>
          </a:xfrm>
          <a:prstGeom prst="rect">
            <a:avLst/>
          </a:prstGeom>
          <a:noFill/>
        </p:spPr>
        <p:txBody>
          <a:bodyPr wrap="square" lIns="0" rIns="0" tIns="0" bIns="0">
            <a:spAutoFit/>
          </a:bodyPr>
          <a:lstStyle/>
          <a:p>
            <a:pPr>
              <a:lnSpc>
                <a:spcPct val="104000"/>
              </a:lnSpc>
              <a:spcAft>
                <a:spcPts val="1100"/>
              </a:spcAft>
            </a:pPr>
            <a:r>
              <a:rPr sz="1150" b="1">
                <a:solidFill>
                  <a:srgbClr val="2962FF"/>
                </a:solidFill>
                <a:latin typeface="Segoe UI"/>
              </a:rPr>
              <a:t>•  </a:t>
            </a:r>
            <a:r>
              <a:rPr sz="1150" b="1">
                <a:solidFill>
                  <a:srgbClr val="1F3864"/>
                </a:solidFill>
                <a:latin typeface="Segoe UI"/>
              </a:rPr>
              <a:t>The stakeholder-voices framing changed how we built — </a:t>
            </a:r>
            <a:r>
              <a:rPr sz="1150" b="0">
                <a:solidFill>
                  <a:srgbClr val="333F50"/>
                </a:solidFill>
                <a:latin typeface="Segoe UI"/>
              </a:rPr>
              <a:t>every feature traces to a person, and prioritization arguments got short.</a:t>
            </a:r>
          </a:p>
          <a:p>
            <a:pPr>
              <a:lnSpc>
                <a:spcPct val="104000"/>
              </a:lnSpc>
              <a:spcAft>
                <a:spcPts val="1100"/>
              </a:spcAft>
            </a:pPr>
            <a:r>
              <a:rPr sz="1150" b="1">
                <a:solidFill>
                  <a:srgbClr val="2962FF"/>
                </a:solidFill>
                <a:latin typeface="Segoe UI"/>
              </a:rPr>
              <a:t>•  </a:t>
            </a:r>
            <a:r>
              <a:rPr sz="1150" b="1">
                <a:solidFill>
                  <a:srgbClr val="1F3864"/>
                </a:solidFill>
                <a:latin typeface="Segoe UI"/>
              </a:rPr>
              <a:t>Honest status beats impressive status — </a:t>
            </a:r>
            <a:r>
              <a:rPr sz="1150" b="0">
                <a:solidFill>
                  <a:srgbClr val="333F50"/>
                </a:solidFill>
                <a:latin typeface="Segoe UI"/>
              </a:rPr>
              <a:t>facilitators know what three weeks allows.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7 · ROADMAP &amp; CLOSE</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Metrics — honest numbers</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16</a:t>
            </a:r>
          </a:p>
        </p:txBody>
      </p:sp>
      <p:sp>
        <p:nvSpPr>
          <p:cNvPr id="7" name="Rounded Rectangle 6"/>
          <p:cNvSpPr/>
          <p:nvPr/>
        </p:nvSpPr>
        <p:spPr>
          <a:xfrm>
            <a:off x="548640" y="146304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28</a:t>
            </a:r>
          </a:p>
          <a:p>
            <a:pPr algn="ctr">
              <a:lnSpc>
                <a:spcPct val="100000"/>
              </a:lnSpc>
              <a:spcAft>
                <a:spcPts val="400"/>
              </a:spcAft>
            </a:pPr>
            <a:r>
              <a:rPr sz="950" b="0" i="0">
                <a:solidFill>
                  <a:srgbClr val="333F50"/>
                </a:solidFill>
                <a:latin typeface="Segoe UI"/>
              </a:rPr>
              <a:t>commits on the integration branch</a:t>
            </a:r>
          </a:p>
        </p:txBody>
      </p:sp>
      <p:sp>
        <p:nvSpPr>
          <p:cNvPr id="8" name="Rounded Rectangle 7"/>
          <p:cNvSpPr/>
          <p:nvPr/>
        </p:nvSpPr>
        <p:spPr>
          <a:xfrm>
            <a:off x="2788920" y="146304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9</a:t>
            </a:r>
          </a:p>
          <a:p>
            <a:pPr algn="ctr">
              <a:lnSpc>
                <a:spcPct val="100000"/>
              </a:lnSpc>
              <a:spcAft>
                <a:spcPts val="400"/>
              </a:spcAft>
            </a:pPr>
            <a:r>
              <a:rPr sz="950" b="0" i="0">
                <a:solidFill>
                  <a:srgbClr val="333F50"/>
                </a:solidFill>
                <a:latin typeface="Segoe UI"/>
              </a:rPr>
              <a:t>merges</a:t>
            </a:r>
          </a:p>
        </p:txBody>
      </p:sp>
      <p:sp>
        <p:nvSpPr>
          <p:cNvPr id="9" name="Rounded Rectangle 8"/>
          <p:cNvSpPr/>
          <p:nvPr/>
        </p:nvSpPr>
        <p:spPr>
          <a:xfrm>
            <a:off x="5029200" y="146304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7</a:t>
            </a:r>
          </a:p>
          <a:p>
            <a:pPr algn="ctr">
              <a:lnSpc>
                <a:spcPct val="100000"/>
              </a:lnSpc>
              <a:spcAft>
                <a:spcPts val="400"/>
              </a:spcAft>
            </a:pPr>
            <a:r>
              <a:rPr sz="950" b="0" i="0">
                <a:solidFill>
                  <a:srgbClr val="333F50"/>
                </a:solidFill>
                <a:latin typeface="Segoe UI"/>
              </a:rPr>
              <a:t>feature branches</a:t>
            </a:r>
          </a:p>
        </p:txBody>
      </p:sp>
      <p:sp>
        <p:nvSpPr>
          <p:cNvPr id="10" name="Rounded Rectangle 9"/>
          <p:cNvSpPr/>
          <p:nvPr/>
        </p:nvSpPr>
        <p:spPr>
          <a:xfrm>
            <a:off x="7269480" y="146304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87</a:t>
            </a:r>
          </a:p>
          <a:p>
            <a:pPr algn="ctr">
              <a:lnSpc>
                <a:spcPct val="100000"/>
              </a:lnSpc>
              <a:spcAft>
                <a:spcPts val="400"/>
              </a:spcAft>
            </a:pPr>
            <a:r>
              <a:rPr sz="950" b="0" i="0">
                <a:solidFill>
                  <a:srgbClr val="333F50"/>
                </a:solidFill>
                <a:latin typeface="Segoe UI"/>
              </a:rPr>
              <a:t>backend tests — all green</a:t>
            </a:r>
          </a:p>
        </p:txBody>
      </p:sp>
      <p:sp>
        <p:nvSpPr>
          <p:cNvPr id="11" name="Rounded Rectangle 10"/>
          <p:cNvSpPr/>
          <p:nvPr/>
        </p:nvSpPr>
        <p:spPr>
          <a:xfrm>
            <a:off x="9509760" y="146304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16</a:t>
            </a:r>
          </a:p>
          <a:p>
            <a:pPr algn="ctr">
              <a:lnSpc>
                <a:spcPct val="100000"/>
              </a:lnSpc>
              <a:spcAft>
                <a:spcPts val="400"/>
              </a:spcAft>
            </a:pPr>
            <a:r>
              <a:rPr sz="950" b="0" i="0">
                <a:solidFill>
                  <a:srgbClr val="333F50"/>
                </a:solidFill>
                <a:latin typeface="Segoe UI"/>
              </a:rPr>
              <a:t>backend modules</a:t>
            </a:r>
          </a:p>
        </p:txBody>
      </p:sp>
      <p:sp>
        <p:nvSpPr>
          <p:cNvPr id="12" name="Rounded Rectangle 11"/>
          <p:cNvSpPr/>
          <p:nvPr/>
        </p:nvSpPr>
        <p:spPr>
          <a:xfrm>
            <a:off x="548640" y="347472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24</a:t>
            </a:r>
          </a:p>
          <a:p>
            <a:pPr algn="ctr">
              <a:lnSpc>
                <a:spcPct val="100000"/>
              </a:lnSpc>
              <a:spcAft>
                <a:spcPts val="400"/>
              </a:spcAft>
            </a:pPr>
            <a:r>
              <a:rPr sz="950" b="0" i="0">
                <a:solidFill>
                  <a:srgbClr val="333F50"/>
                </a:solidFill>
                <a:latin typeface="Segoe UI"/>
              </a:rPr>
              <a:t>design documents — SRS-traced</a:t>
            </a:r>
          </a:p>
        </p:txBody>
      </p:sp>
      <p:sp>
        <p:nvSpPr>
          <p:cNvPr id="13" name="Rounded Rectangle 12"/>
          <p:cNvSpPr/>
          <p:nvPr/>
        </p:nvSpPr>
        <p:spPr>
          <a:xfrm>
            <a:off x="2788920" y="347472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11</a:t>
            </a:r>
          </a:p>
          <a:p>
            <a:pPr algn="ctr">
              <a:lnSpc>
                <a:spcPct val="100000"/>
              </a:lnSpc>
              <a:spcAft>
                <a:spcPts val="400"/>
              </a:spcAft>
            </a:pPr>
            <a:r>
              <a:rPr sz="950" b="0" i="0">
                <a:solidFill>
                  <a:srgbClr val="333F50"/>
                </a:solidFill>
                <a:latin typeface="Segoe UI"/>
              </a:rPr>
              <a:t>instruments — 7 equities + 4 bonds</a:t>
            </a:r>
          </a:p>
        </p:txBody>
      </p:sp>
      <p:sp>
        <p:nvSpPr>
          <p:cNvPr id="14" name="Rounded Rectangle 13"/>
          <p:cNvSpPr/>
          <p:nvPr/>
        </p:nvSpPr>
        <p:spPr>
          <a:xfrm>
            <a:off x="5029200" y="347472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~190k</a:t>
            </a:r>
          </a:p>
          <a:p>
            <a:pPr algn="ctr">
              <a:lnSpc>
                <a:spcPct val="100000"/>
              </a:lnSpc>
              <a:spcAft>
                <a:spcPts val="400"/>
              </a:spcAft>
            </a:pPr>
            <a:r>
              <a:rPr sz="950" b="0" i="0">
                <a:solidFill>
                  <a:srgbClr val="333F50"/>
                </a:solidFill>
                <a:latin typeface="Segoe UI"/>
              </a:rPr>
              <a:t>price bars replayed on the sim clock</a:t>
            </a:r>
          </a:p>
        </p:txBody>
      </p:sp>
      <p:sp>
        <p:nvSpPr>
          <p:cNvPr id="15" name="Rounded Rectangle 14"/>
          <p:cNvSpPr/>
          <p:nvPr/>
        </p:nvSpPr>
        <p:spPr>
          <a:xfrm>
            <a:off x="7269480" y="3474720"/>
            <a:ext cx="2130552" cy="18288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1F3864"/>
                </a:solidFill>
                <a:latin typeface="Segoe UI"/>
              </a:rPr>
              <a:t>9.3k</a:t>
            </a:r>
          </a:p>
          <a:p>
            <a:pPr algn="ctr">
              <a:lnSpc>
                <a:spcPct val="100000"/>
              </a:lnSpc>
              <a:spcAft>
                <a:spcPts val="400"/>
              </a:spcAft>
            </a:pPr>
            <a:r>
              <a:rPr sz="950" b="0" i="0">
                <a:solidFill>
                  <a:srgbClr val="333F50"/>
                </a:solidFill>
                <a:latin typeface="Segoe UI"/>
              </a:rPr>
              <a:t>news items as reference data</a:t>
            </a:r>
          </a:p>
        </p:txBody>
      </p:sp>
      <p:sp>
        <p:nvSpPr>
          <p:cNvPr id="16" name="Rounded Rectangle 15"/>
          <p:cNvSpPr/>
          <p:nvPr/>
        </p:nvSpPr>
        <p:spPr>
          <a:xfrm>
            <a:off x="9509760" y="3474720"/>
            <a:ext cx="2130552" cy="1828800"/>
          </a:xfrm>
          <a:prstGeom prst="roundRect">
            <a:avLst>
              <a:gd name="adj" fmla="val 10000"/>
            </a:avLst>
          </a:prstGeom>
          <a:solidFill>
            <a:srgbClr val="E9EFFC"/>
          </a:solidFill>
          <a:ln w="9525">
            <a:solidFill>
              <a:srgbClr val="2962FF"/>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3000" b="1" i="0">
                <a:solidFill>
                  <a:srgbClr val="2962FF"/>
                </a:solidFill>
                <a:latin typeface="Segoe UI"/>
              </a:rPr>
              <a:t>0</a:t>
            </a:r>
          </a:p>
          <a:p>
            <a:pPr algn="ctr">
              <a:lnSpc>
                <a:spcPct val="100000"/>
              </a:lnSpc>
              <a:spcAft>
                <a:spcPts val="400"/>
              </a:spcAft>
            </a:pPr>
            <a:r>
              <a:rPr sz="950" b="0" i="0">
                <a:solidFill>
                  <a:srgbClr val="333F50"/>
                </a:solidFill>
                <a:latin typeface="Segoe UI"/>
              </a:rPr>
              <a:t>pipeline runs — defined &amp; reviewed, not executed</a:t>
            </a:r>
          </a:p>
        </p:txBody>
      </p:sp>
      <p:sp>
        <p:nvSpPr>
          <p:cNvPr id="17" name="Rounded Rectangle 16"/>
          <p:cNvSpPr/>
          <p:nvPr/>
        </p:nvSpPr>
        <p:spPr>
          <a:xfrm>
            <a:off x="548640" y="5577840"/>
            <a:ext cx="11094720" cy="64008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200" b="1" i="0">
                <a:solidFill>
                  <a:srgbClr val="1F3864"/>
                </a:solidFill>
                <a:latin typeface="Segoe UI"/>
              </a:rPr>
              <a:t>That zero is on the roadmap — </a:t>
            </a:r>
            <a:r>
              <a:rPr sz="1200" b="0" i="0">
                <a:solidFill>
                  <a:srgbClr val="333F50"/>
                </a:solidFill>
                <a:latin typeface="Segoe UI"/>
              </a:rPr>
              <a:t>the CI/CD is defined and reviewed, not yet executed (no cloud in the program environment).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SECTION 7 · ROADMAP &amp; CLOSE</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Future roadmap — answering the four voices</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17</a:t>
            </a:r>
          </a:p>
        </p:txBody>
      </p:sp>
      <p:sp>
        <p:nvSpPr>
          <p:cNvPr id="7" name="Rounded Rectangle 6"/>
          <p:cNvSpPr/>
          <p:nvPr/>
        </p:nvSpPr>
        <p:spPr>
          <a:xfrm>
            <a:off x="548640" y="1371600"/>
            <a:ext cx="5440680" cy="22860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Roy  </a:t>
            </a:r>
            <a:r>
              <a:rPr sz="1050" b="0" i="0">
                <a:solidFill>
                  <a:srgbClr val="8A94A6"/>
                </a:solidFill>
                <a:latin typeface="Segoe UI"/>
              </a:rPr>
              <a:t>— scalability &amp; DevSecOps</a:t>
            </a:r>
          </a:p>
        </p:txBody>
      </p:sp>
      <p:sp>
        <p:nvSpPr>
          <p:cNvPr id="8" name="TextBox 7"/>
          <p:cNvSpPr txBox="1"/>
          <p:nvPr/>
        </p:nvSpPr>
        <p:spPr>
          <a:xfrm>
            <a:off x="731520" y="1938528"/>
            <a:ext cx="5074920" cy="1554480"/>
          </a:xfrm>
          <a:prstGeom prst="rect">
            <a:avLst/>
          </a:prstGeom>
          <a:noFill/>
        </p:spPr>
        <p:txBody>
          <a:bodyPr wrap="square" lIns="0" rIns="0" tIns="0" bIns="0">
            <a:spAutoFit/>
          </a:bodyPr>
          <a:lstStyle/>
          <a:p>
            <a:pPr>
              <a:lnSpc>
                <a:spcPct val="104000"/>
              </a:lnSpc>
              <a:spcAft>
                <a:spcPts val="600"/>
              </a:spcAft>
            </a:pPr>
            <a:r>
              <a:rPr sz="1100" b="1">
                <a:solidFill>
                  <a:srgbClr val="2962FF"/>
                </a:solidFill>
                <a:latin typeface="Segoe UI"/>
              </a:rPr>
              <a:t>•  </a:t>
            </a:r>
            <a:r>
              <a:rPr sz="1100" b="0">
                <a:solidFill>
                  <a:srgbClr val="333F50"/>
                </a:solidFill>
                <a:latin typeface="Segoe UI"/>
              </a:rPr>
              <a:t>Run the pipeline for real; Alembic migrations</a:t>
            </a:r>
          </a:p>
          <a:p>
            <a:pPr>
              <a:lnSpc>
                <a:spcPct val="104000"/>
              </a:lnSpc>
              <a:spcAft>
                <a:spcPts val="600"/>
              </a:spcAft>
            </a:pPr>
            <a:r>
              <a:rPr sz="1100" b="1">
                <a:solidFill>
                  <a:srgbClr val="2962FF"/>
                </a:solidFill>
                <a:latin typeface="Segoe UI"/>
              </a:rPr>
              <a:t>•  </a:t>
            </a:r>
            <a:r>
              <a:rPr sz="1100" b="0">
                <a:solidFill>
                  <a:srgbClr val="333F50"/>
                </a:solidFill>
                <a:latin typeface="Segoe UI"/>
              </a:rPr>
              <a:t>Multi-instance via the Redis session / event-bus path that already exists</a:t>
            </a:r>
          </a:p>
          <a:p>
            <a:pPr>
              <a:lnSpc>
                <a:spcPct val="104000"/>
              </a:lnSpc>
              <a:spcAft>
                <a:spcPts val="600"/>
              </a:spcAft>
            </a:pPr>
            <a:r>
              <a:rPr sz="1100" b="1">
                <a:solidFill>
                  <a:srgbClr val="2962FF"/>
                </a:solidFill>
                <a:latin typeface="Segoe UI"/>
              </a:rPr>
              <a:t>•  </a:t>
            </a:r>
            <a:r>
              <a:rPr sz="1100" b="0">
                <a:solidFill>
                  <a:srgbClr val="333F50"/>
                </a:solidFill>
                <a:latin typeface="Segoe UI"/>
              </a:rPr>
              <a:t>External audit anchoring</a:t>
            </a:r>
          </a:p>
        </p:txBody>
      </p:sp>
      <p:sp>
        <p:nvSpPr>
          <p:cNvPr id="9" name="Rounded Rectangle 8"/>
          <p:cNvSpPr/>
          <p:nvPr/>
        </p:nvSpPr>
        <p:spPr>
          <a:xfrm>
            <a:off x="6199632" y="1371600"/>
            <a:ext cx="5440680" cy="22860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Tom &amp; Patricia  </a:t>
            </a:r>
            <a:r>
              <a:rPr sz="1050" b="0" i="0">
                <a:solidFill>
                  <a:srgbClr val="8A94A6"/>
                </a:solidFill>
                <a:latin typeface="Segoe UI"/>
              </a:rPr>
              <a:t>— adoption</a:t>
            </a:r>
          </a:p>
        </p:txBody>
      </p:sp>
      <p:sp>
        <p:nvSpPr>
          <p:cNvPr id="10" name="TextBox 9"/>
          <p:cNvSpPr txBox="1"/>
          <p:nvPr/>
        </p:nvSpPr>
        <p:spPr>
          <a:xfrm>
            <a:off x="6382512" y="1938528"/>
            <a:ext cx="5074920" cy="1554480"/>
          </a:xfrm>
          <a:prstGeom prst="rect">
            <a:avLst/>
          </a:prstGeom>
          <a:noFill/>
        </p:spPr>
        <p:txBody>
          <a:bodyPr wrap="square" lIns="0" rIns="0" tIns="0" bIns="0">
            <a:spAutoFit/>
          </a:bodyPr>
          <a:lstStyle/>
          <a:p>
            <a:pPr>
              <a:lnSpc>
                <a:spcPct val="104000"/>
              </a:lnSpc>
              <a:spcAft>
                <a:spcPts val="600"/>
              </a:spcAft>
            </a:pPr>
            <a:r>
              <a:rPr sz="1100" b="1">
                <a:solidFill>
                  <a:srgbClr val="2962FF"/>
                </a:solidFill>
                <a:latin typeface="Segoe UI"/>
              </a:rPr>
              <a:t>•  </a:t>
            </a:r>
            <a:r>
              <a:rPr sz="1100" b="0">
                <a:solidFill>
                  <a:srgbClr val="333F50"/>
                </a:solidFill>
                <a:latin typeface="Segoe UI"/>
              </a:rPr>
              <a:t>Keep the dashboard the single screen they asked for</a:t>
            </a:r>
          </a:p>
          <a:p>
            <a:pPr>
              <a:lnSpc>
                <a:spcPct val="104000"/>
              </a:lnSpc>
              <a:spcAft>
                <a:spcPts val="600"/>
              </a:spcAft>
            </a:pPr>
            <a:r>
              <a:rPr sz="1100" b="1">
                <a:solidFill>
                  <a:srgbClr val="2962FF"/>
                </a:solidFill>
                <a:latin typeface="Segoe UI"/>
              </a:rPr>
              <a:t>•  </a:t>
            </a:r>
            <a:r>
              <a:rPr sz="1100" b="0">
                <a:solidFill>
                  <a:srgbClr val="333F50"/>
                </a:solidFill>
                <a:latin typeface="Segoe UI"/>
              </a:rPr>
              <a:t>Live news via the provider seam the business already reviewed</a:t>
            </a:r>
          </a:p>
          <a:p>
            <a:pPr>
              <a:lnSpc>
                <a:spcPct val="104000"/>
              </a:lnSpc>
              <a:spcAft>
                <a:spcPts val="600"/>
              </a:spcAft>
            </a:pPr>
            <a:r>
              <a:rPr sz="1100" b="1">
                <a:solidFill>
                  <a:srgbClr val="2962FF"/>
                </a:solidFill>
                <a:latin typeface="Segoe UI"/>
              </a:rPr>
              <a:t>•  </a:t>
            </a:r>
            <a:r>
              <a:rPr sz="1100" b="0">
                <a:solidFill>
                  <a:srgbClr val="333F50"/>
                </a:solidFill>
                <a:latin typeface="Segoe UI"/>
              </a:rPr>
              <a:t>Change management is a feature, not an afterthought</a:t>
            </a:r>
          </a:p>
        </p:txBody>
      </p:sp>
      <p:sp>
        <p:nvSpPr>
          <p:cNvPr id="11" name="Rounded Rectangle 10"/>
          <p:cNvSpPr/>
          <p:nvPr/>
        </p:nvSpPr>
        <p:spPr>
          <a:xfrm>
            <a:off x="548640" y="3858768"/>
            <a:ext cx="5440680" cy="22860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Nora  </a:t>
            </a:r>
            <a:r>
              <a:rPr sz="1050" b="0" i="0">
                <a:solidFill>
                  <a:srgbClr val="8A94A6"/>
                </a:solidFill>
                <a:latin typeface="Segoe UI"/>
              </a:rPr>
              <a:t>— maintainability</a:t>
            </a:r>
          </a:p>
        </p:txBody>
      </p:sp>
      <p:sp>
        <p:nvSpPr>
          <p:cNvPr id="12" name="TextBox 11"/>
          <p:cNvSpPr txBox="1"/>
          <p:nvPr/>
        </p:nvSpPr>
        <p:spPr>
          <a:xfrm>
            <a:off x="731520" y="4425696"/>
            <a:ext cx="5074920" cy="1554480"/>
          </a:xfrm>
          <a:prstGeom prst="rect">
            <a:avLst/>
          </a:prstGeom>
          <a:noFill/>
        </p:spPr>
        <p:txBody>
          <a:bodyPr wrap="square" lIns="0" rIns="0" tIns="0" bIns="0">
            <a:spAutoFit/>
          </a:bodyPr>
          <a:lstStyle/>
          <a:p>
            <a:pPr>
              <a:lnSpc>
                <a:spcPct val="104000"/>
              </a:lnSpc>
              <a:spcAft>
                <a:spcPts val="600"/>
              </a:spcAft>
            </a:pPr>
            <a:r>
              <a:rPr sz="1100" b="1">
                <a:solidFill>
                  <a:srgbClr val="2962FF"/>
                </a:solidFill>
                <a:latin typeface="Segoe UI"/>
              </a:rPr>
              <a:t>•  </a:t>
            </a:r>
            <a:r>
              <a:rPr sz="1100" b="0">
                <a:solidFill>
                  <a:srgbClr val="333F50"/>
                </a:solidFill>
                <a:latin typeface="Segoe UI"/>
              </a:rPr>
              <a:t>The assistant's LLM seam lets a real model in without touching the guardrails</a:t>
            </a:r>
          </a:p>
          <a:p>
            <a:pPr>
              <a:lnSpc>
                <a:spcPct val="104000"/>
              </a:lnSpc>
              <a:spcAft>
                <a:spcPts val="600"/>
              </a:spcAft>
            </a:pPr>
            <a:r>
              <a:rPr sz="1100" b="1">
                <a:solidFill>
                  <a:srgbClr val="2962FF"/>
                </a:solidFill>
                <a:latin typeface="Segoe UI"/>
              </a:rPr>
              <a:t>•  </a:t>
            </a:r>
            <a:r>
              <a:rPr sz="1100" b="0">
                <a:solidFill>
                  <a:srgbClr val="333F50"/>
                </a:solidFill>
                <a:latin typeface="Segoe UI"/>
              </a:rPr>
              <a:t>Batch-system knowledge preserved in 24 design docs and a runbook</a:t>
            </a:r>
          </a:p>
          <a:p>
            <a:pPr>
              <a:lnSpc>
                <a:spcPct val="104000"/>
              </a:lnSpc>
              <a:spcAft>
                <a:spcPts val="600"/>
              </a:spcAft>
            </a:pPr>
            <a:r>
              <a:rPr sz="1100" b="1">
                <a:solidFill>
                  <a:srgbClr val="2962FF"/>
                </a:solidFill>
                <a:latin typeface="Segoe UI"/>
              </a:rPr>
              <a:t>•  </a:t>
            </a:r>
            <a:r>
              <a:rPr sz="1100" b="0">
                <a:solidFill>
                  <a:srgbClr val="333F50"/>
                </a:solidFill>
                <a:latin typeface="Segoe UI"/>
              </a:rPr>
              <a:t>Built with her skepticism, not against it</a:t>
            </a:r>
          </a:p>
        </p:txBody>
      </p:sp>
      <p:sp>
        <p:nvSpPr>
          <p:cNvPr id="13" name="Rounded Rectangle 12"/>
          <p:cNvSpPr/>
          <p:nvPr/>
        </p:nvSpPr>
        <p:spPr>
          <a:xfrm>
            <a:off x="6199632" y="3858768"/>
            <a:ext cx="5440680" cy="228600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bIns="146304"/>
          <a:lstStyle/>
          <a:p>
            <a:pPr algn="l">
              <a:lnSpc>
                <a:spcPct val="100000"/>
              </a:lnSpc>
              <a:spcAft>
                <a:spcPts val="200"/>
              </a:spcAft>
            </a:pPr>
            <a:r>
              <a:rPr sz="1400" b="1" i="0">
                <a:solidFill>
                  <a:srgbClr val="1F3864"/>
                </a:solidFill>
                <a:latin typeface="Segoe UI"/>
              </a:rPr>
              <a:t>Rohan  </a:t>
            </a:r>
            <a:r>
              <a:rPr sz="1050" b="0" i="0">
                <a:solidFill>
                  <a:srgbClr val="8A94A6"/>
                </a:solidFill>
                <a:latin typeface="Segoe UI"/>
              </a:rPr>
              <a:t>— cost/benefit for the CFO</a:t>
            </a:r>
          </a:p>
        </p:txBody>
      </p:sp>
      <p:sp>
        <p:nvSpPr>
          <p:cNvPr id="14" name="TextBox 13"/>
          <p:cNvSpPr txBox="1"/>
          <p:nvPr/>
        </p:nvSpPr>
        <p:spPr>
          <a:xfrm>
            <a:off x="6382512" y="4425696"/>
            <a:ext cx="5074920" cy="1554480"/>
          </a:xfrm>
          <a:prstGeom prst="rect">
            <a:avLst/>
          </a:prstGeom>
          <a:noFill/>
        </p:spPr>
        <p:txBody>
          <a:bodyPr wrap="square" lIns="0" rIns="0" tIns="0" bIns="0">
            <a:spAutoFit/>
          </a:bodyPr>
          <a:lstStyle/>
          <a:p>
            <a:pPr>
              <a:lnSpc>
                <a:spcPct val="104000"/>
              </a:lnSpc>
              <a:spcAft>
                <a:spcPts val="600"/>
              </a:spcAft>
            </a:pPr>
            <a:r>
              <a:rPr sz="1100" b="1">
                <a:solidFill>
                  <a:srgbClr val="2962FF"/>
                </a:solidFill>
                <a:latin typeface="Segoe UI"/>
              </a:rPr>
              <a:t>•  </a:t>
            </a:r>
            <a:r>
              <a:rPr sz="1100" b="0">
                <a:solidFill>
                  <a:srgbClr val="333F50"/>
                </a:solidFill>
                <a:latin typeface="Segoe UI"/>
              </a:rPr>
              <a:t>Iceberg orders and per-desk limits: designed, deferred</a:t>
            </a:r>
          </a:p>
          <a:p>
            <a:pPr>
              <a:lnSpc>
                <a:spcPct val="104000"/>
              </a:lnSpc>
              <a:spcAft>
                <a:spcPts val="600"/>
              </a:spcAft>
            </a:pPr>
            <a:r>
              <a:rPr sz="1100" b="1">
                <a:solidFill>
                  <a:srgbClr val="2962FF"/>
                </a:solidFill>
                <a:latin typeface="Segoe UI"/>
              </a:rPr>
              <a:t>•  </a:t>
            </a:r>
            <a:r>
              <a:rPr sz="1100" b="0">
                <a:solidFill>
                  <a:srgbClr val="333F50"/>
                </a:solidFill>
                <a:latin typeface="Segoe UI"/>
              </a:rPr>
              <a:t>Roadmap sequenced by business value</a:t>
            </a:r>
          </a:p>
          <a:p>
            <a:pPr>
              <a:lnSpc>
                <a:spcPct val="104000"/>
              </a:lnSpc>
              <a:spcAft>
                <a:spcPts val="600"/>
              </a:spcAft>
            </a:pPr>
            <a:r>
              <a:rPr sz="1100" b="1">
                <a:solidFill>
                  <a:srgbClr val="2962FF"/>
                </a:solidFill>
                <a:latin typeface="Segoe UI"/>
              </a:rPr>
              <a:t>•  </a:t>
            </a:r>
            <a:r>
              <a:rPr sz="1100" b="0">
                <a:solidFill>
                  <a:srgbClr val="333F50"/>
                </a:solidFill>
                <a:latin typeface="Segoe UI"/>
              </a:rPr>
              <a:t>The demo you saw runs on a laptop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094720" cy="822960"/>
          </a:xfrm>
          <a:prstGeom prst="rect">
            <a:avLst/>
          </a:prstGeom>
          <a:noFill/>
        </p:spPr>
        <p:txBody>
          <a:bodyPr wrap="square" anchor="t" lIns="0" rIns="0" tIns="0" bIns="0">
            <a:spAutoFit/>
          </a:bodyPr>
          <a:lstStyle/>
          <a:p>
            <a:pPr algn="ctr">
              <a:lnSpc>
                <a:spcPct val="100000"/>
              </a:lnSpc>
              <a:spcAft>
                <a:spcPts val="400"/>
              </a:spcAft>
            </a:pPr>
            <a:r>
              <a:rPr sz="3600" b="1" i="0">
                <a:solidFill>
                  <a:srgbClr val="1F3864"/>
                </a:solidFill>
                <a:latin typeface="Segoe UI"/>
              </a:rPr>
              <a:t>Thank you — questions?</a:t>
            </a:r>
          </a:p>
        </p:txBody>
      </p:sp>
      <p:sp>
        <p:nvSpPr>
          <p:cNvPr id="4" name="TextBox 3"/>
          <p:cNvSpPr txBox="1"/>
          <p:nvPr/>
        </p:nvSpPr>
        <p:spPr>
          <a:xfrm>
            <a:off x="548640" y="1783080"/>
            <a:ext cx="11094720" cy="320040"/>
          </a:xfrm>
          <a:prstGeom prst="rect">
            <a:avLst/>
          </a:prstGeom>
          <a:noFill/>
        </p:spPr>
        <p:txBody>
          <a:bodyPr wrap="square" anchor="t" lIns="0" rIns="0" tIns="0" bIns="0">
            <a:spAutoFit/>
          </a:bodyPr>
          <a:lstStyle/>
          <a:p>
            <a:pPr algn="ctr">
              <a:lnSpc>
                <a:spcPct val="100000"/>
              </a:lnSpc>
              <a:spcAft>
                <a:spcPts val="400"/>
              </a:spcAft>
            </a:pPr>
            <a:r>
              <a:rPr sz="1300" b="0" i="1">
                <a:solidFill>
                  <a:srgbClr val="8A94A6"/>
                </a:solidFill>
                <a:latin typeface="Segoe UI"/>
              </a:rPr>
              <a:t>We set out to answer four people:</a:t>
            </a:r>
          </a:p>
        </p:txBody>
      </p:sp>
      <p:sp>
        <p:nvSpPr>
          <p:cNvPr id="5" name="Rounded Rectangle 4"/>
          <p:cNvSpPr/>
          <p:nvPr/>
        </p:nvSpPr>
        <p:spPr>
          <a:xfrm>
            <a:off x="2164080" y="2377440"/>
            <a:ext cx="7863840" cy="5669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250" b="1" i="0">
                <a:solidFill>
                  <a:srgbClr val="1F3864"/>
                </a:solidFill>
                <a:latin typeface="Segoe UI"/>
              </a:rPr>
              <a:t>Rohan   </a:t>
            </a:r>
            <a:r>
              <a:rPr sz="1250" b="0" i="0">
                <a:solidFill>
                  <a:srgbClr val="333F50"/>
                </a:solidFill>
                <a:latin typeface="Segoe UI"/>
              </a:rPr>
              <a:t>— one-click trading that's still an informed decision</a:t>
            </a:r>
          </a:p>
        </p:txBody>
      </p:sp>
      <p:sp>
        <p:nvSpPr>
          <p:cNvPr id="6" name="Rounded Rectangle 5"/>
          <p:cNvSpPr/>
          <p:nvPr/>
        </p:nvSpPr>
        <p:spPr>
          <a:xfrm>
            <a:off x="2164080" y="3090672"/>
            <a:ext cx="7863840" cy="5669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250" b="1" i="0">
                <a:solidFill>
                  <a:srgbClr val="1F3864"/>
                </a:solidFill>
                <a:latin typeface="Segoe UI"/>
              </a:rPr>
              <a:t>Tom &amp; Patricia   </a:t>
            </a:r>
            <a:r>
              <a:rPr sz="1250" b="0" i="0">
                <a:solidFill>
                  <a:srgbClr val="333F50"/>
                </a:solidFill>
                <a:latin typeface="Segoe UI"/>
              </a:rPr>
              <a:t>— a dashboard that replaces Excel without teaching a new system</a:t>
            </a:r>
          </a:p>
        </p:txBody>
      </p:sp>
      <p:sp>
        <p:nvSpPr>
          <p:cNvPr id="7" name="Rounded Rectangle 6"/>
          <p:cNvSpPr/>
          <p:nvPr/>
        </p:nvSpPr>
        <p:spPr>
          <a:xfrm>
            <a:off x="2164080" y="3803904"/>
            <a:ext cx="7863840" cy="5669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250" b="1" i="0">
                <a:solidFill>
                  <a:srgbClr val="1F3864"/>
                </a:solidFill>
                <a:latin typeface="Segoe UI"/>
              </a:rPr>
              <a:t>Nora   </a:t>
            </a:r>
            <a:r>
              <a:rPr sz="1250" b="0" i="0">
                <a:solidFill>
                  <a:srgbClr val="333F50"/>
                </a:solidFill>
                <a:latin typeface="Segoe UI"/>
              </a:rPr>
              <a:t>— a rebuild that respects what the batch system knows</a:t>
            </a:r>
          </a:p>
        </p:txBody>
      </p:sp>
      <p:sp>
        <p:nvSpPr>
          <p:cNvPr id="8" name="Rounded Rectangle 7"/>
          <p:cNvSpPr/>
          <p:nvPr/>
        </p:nvSpPr>
        <p:spPr>
          <a:xfrm>
            <a:off x="2164080" y="4517136"/>
            <a:ext cx="7863840" cy="566928"/>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l">
              <a:lnSpc>
                <a:spcPct val="100000"/>
              </a:lnSpc>
              <a:spcAft>
                <a:spcPts val="200"/>
              </a:spcAft>
            </a:pPr>
            <a:r>
              <a:rPr sz="1250" b="1" i="0">
                <a:solidFill>
                  <a:srgbClr val="1F3864"/>
                </a:solidFill>
                <a:latin typeface="Segoe UI"/>
              </a:rPr>
              <a:t>Roy   </a:t>
            </a:r>
            <a:r>
              <a:rPr sz="1250" b="0" i="0">
                <a:solidFill>
                  <a:srgbClr val="333F50"/>
                </a:solidFill>
                <a:latin typeface="Segoe UI"/>
              </a:rPr>
              <a:t>— DevSecOps that was day-one, not day-twenty</a:t>
            </a:r>
          </a:p>
        </p:txBody>
      </p:sp>
      <p:sp>
        <p:nvSpPr>
          <p:cNvPr id="9" name="TextBox 8"/>
          <p:cNvSpPr txBox="1"/>
          <p:nvPr/>
        </p:nvSpPr>
        <p:spPr>
          <a:xfrm>
            <a:off x="548640" y="5623560"/>
            <a:ext cx="11094720" cy="320040"/>
          </a:xfrm>
          <a:prstGeom prst="rect">
            <a:avLst/>
          </a:prstGeom>
          <a:noFill/>
        </p:spPr>
        <p:txBody>
          <a:bodyPr wrap="square" anchor="t" lIns="0" rIns="0" tIns="0" bIns="0">
            <a:spAutoFit/>
          </a:bodyPr>
          <a:lstStyle/>
          <a:p>
            <a:pPr algn="ctr">
              <a:lnSpc>
                <a:spcPct val="100000"/>
              </a:lnSpc>
              <a:spcAft>
                <a:spcPts val="400"/>
              </a:spcAft>
            </a:pPr>
            <a:r>
              <a:rPr sz="1150" b="0" i="0">
                <a:solidFill>
                  <a:srgbClr val="8A94A6"/>
                </a:solidFill>
                <a:latin typeface="Segoe UI"/>
              </a:rPr>
              <a:t>[Team name]  ·  Nomura Tech Graduate Program 2026  ·  30 July 2026</a:t>
            </a:r>
          </a:p>
        </p:txBody>
      </p:sp>
      <p:sp>
        <p:nvSpPr>
          <p:cNvPr id="10" name="TextBox 9"/>
          <p:cNvSpPr txBox="1"/>
          <p:nvPr/>
        </p:nvSpPr>
        <p:spPr>
          <a:xfrm>
            <a:off x="548640" y="5989320"/>
            <a:ext cx="11094720" cy="274320"/>
          </a:xfrm>
          <a:prstGeom prst="rect">
            <a:avLst/>
          </a:prstGeom>
          <a:noFill/>
        </p:spPr>
        <p:txBody>
          <a:bodyPr wrap="square" anchor="t" lIns="0" rIns="0" tIns="0" bIns="0">
            <a:spAutoFit/>
          </a:bodyPr>
          <a:lstStyle/>
          <a:p>
            <a:pPr algn="ctr">
              <a:lnSpc>
                <a:spcPct val="100000"/>
              </a:lnSpc>
              <a:spcAft>
                <a:spcPts val="400"/>
              </a:spcAft>
            </a:pPr>
            <a:r>
              <a:rPr sz="1050" b="0" i="1">
                <a:solidFill>
                  <a:srgbClr val="8A94A6"/>
                </a:solidFill>
                <a:latin typeface="Segoe UI"/>
              </a:rPr>
              <a:t>Appendix: A1 trade-flow sequence · A2 data model · A3 CI/CD pipeline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Q&amp;A BACKUP</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Appendix — STP trade-flow sequence</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A1</a:t>
            </a:r>
          </a:p>
        </p:txBody>
      </p:sp>
      <p:sp>
        <p:nvSpPr>
          <p:cNvPr id="7" name="Rounded Rectangle 6"/>
          <p:cNvSpPr/>
          <p:nvPr/>
        </p:nvSpPr>
        <p:spPr>
          <a:xfrm>
            <a:off x="548640" y="1417320"/>
            <a:ext cx="2084831" cy="123444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1150" b="1" i="0">
                <a:solidFill>
                  <a:srgbClr val="1F3864"/>
                </a:solidFill>
                <a:latin typeface="Segoe UI"/>
              </a:rPr>
              <a:t>Trader — workspace</a:t>
            </a:r>
          </a:p>
          <a:p>
            <a:pPr algn="ctr">
              <a:lnSpc>
                <a:spcPct val="100000"/>
              </a:lnSpc>
              <a:spcAft>
                <a:spcPts val="400"/>
              </a:spcAft>
            </a:pPr>
            <a:r>
              <a:rPr sz="950" b="0" i="0">
                <a:solidFill>
                  <a:srgbClr val="333F50"/>
                </a:solidFill>
                <a:latin typeface="Segoe UI"/>
              </a:rPr>
              <a:t>two-click order ticket</a:t>
            </a:r>
          </a:p>
        </p:txBody>
      </p:sp>
      <p:cxnSp>
        <p:nvCxnSpPr>
          <p:cNvPr id="8" name="Connector 7"/>
          <p:cNvCxnSpPr/>
          <p:nvPr/>
        </p:nvCxnSpPr>
        <p:spPr>
          <a:xfrm>
            <a:off x="2633471" y="2034540"/>
            <a:ext cx="173736" cy="0"/>
          </a:xfrm>
          <a:prstGeom prst="line">
            <a:avLst/>
          </a:prstGeom>
          <a:ln w="22225">
            <a:solidFill>
              <a:srgbClr val="2962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07207" y="1417320"/>
            <a:ext cx="2084831" cy="123444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1150" b="1" i="0">
                <a:solidFill>
                  <a:srgbClr val="1F3864"/>
                </a:solidFill>
                <a:latin typeface="Segoe UI"/>
              </a:rPr>
              <a:t>Orders API</a:t>
            </a:r>
          </a:p>
          <a:p>
            <a:pPr algn="ctr">
              <a:lnSpc>
                <a:spcPct val="100000"/>
              </a:lnSpc>
              <a:spcAft>
                <a:spcPts val="400"/>
              </a:spcAft>
            </a:pPr>
            <a:r>
              <a:rPr sz="950" b="0" i="0">
                <a:solidFill>
                  <a:srgbClr val="333F50"/>
                </a:solidFill>
                <a:latin typeface="Segoe UI"/>
              </a:rPr>
              <a:t>validate: cash · lot size · max notional · restricted list</a:t>
            </a:r>
          </a:p>
        </p:txBody>
      </p:sp>
      <p:cxnSp>
        <p:nvCxnSpPr>
          <p:cNvPr id="10" name="Connector 9"/>
          <p:cNvCxnSpPr/>
          <p:nvPr/>
        </p:nvCxnSpPr>
        <p:spPr>
          <a:xfrm>
            <a:off x="4892038" y="2034540"/>
            <a:ext cx="173736" cy="0"/>
          </a:xfrm>
          <a:prstGeom prst="line">
            <a:avLst/>
          </a:prstGeom>
          <a:ln w="22225">
            <a:solidFill>
              <a:srgbClr val="2962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65774" y="1417320"/>
            <a:ext cx="2084831" cy="123444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1150" b="1" i="0">
                <a:solidFill>
                  <a:srgbClr val="1F3864"/>
                </a:solidFill>
                <a:latin typeface="Segoe UI"/>
              </a:rPr>
              <a:t>Execution engine</a:t>
            </a:r>
          </a:p>
          <a:p>
            <a:pPr algn="ctr">
              <a:lnSpc>
                <a:spcPct val="100000"/>
              </a:lnSpc>
              <a:spcAft>
                <a:spcPts val="400"/>
              </a:spcAft>
            </a:pPr>
            <a:r>
              <a:rPr sz="950" b="0" i="0">
                <a:solidFill>
                  <a:srgbClr val="333F50"/>
                </a:solidFill>
                <a:latin typeface="Segoe UI"/>
              </a:rPr>
              <a:t>matches order vs live tick stream</a:t>
            </a:r>
          </a:p>
        </p:txBody>
      </p:sp>
      <p:cxnSp>
        <p:nvCxnSpPr>
          <p:cNvPr id="12" name="Connector 11"/>
          <p:cNvCxnSpPr/>
          <p:nvPr/>
        </p:nvCxnSpPr>
        <p:spPr>
          <a:xfrm>
            <a:off x="7150605" y="2034540"/>
            <a:ext cx="173736" cy="0"/>
          </a:xfrm>
          <a:prstGeom prst="line">
            <a:avLst/>
          </a:prstGeom>
          <a:ln w="22225">
            <a:solidFill>
              <a:srgbClr val="2962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24341" y="1417320"/>
            <a:ext cx="2084831" cy="123444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1150" b="1" i="0">
                <a:solidFill>
                  <a:srgbClr val="1F3864"/>
                </a:solidFill>
                <a:latin typeface="Segoe UI"/>
              </a:rPr>
              <a:t>STP worker</a:t>
            </a:r>
          </a:p>
          <a:p>
            <a:pPr algn="ctr">
              <a:lnSpc>
                <a:spcPct val="100000"/>
              </a:lnSpc>
              <a:spcAft>
                <a:spcPts val="400"/>
              </a:spcAft>
            </a:pPr>
            <a:r>
              <a:rPr sz="950" b="0" i="0">
                <a:solidFill>
                  <a:srgbClr val="333F50"/>
                </a:solidFill>
                <a:latin typeface="Segoe UI"/>
              </a:rPr>
              <a:t>execution → position · cash · settlement instruction</a:t>
            </a:r>
          </a:p>
        </p:txBody>
      </p:sp>
      <p:cxnSp>
        <p:nvCxnSpPr>
          <p:cNvPr id="14" name="Connector 13"/>
          <p:cNvCxnSpPr/>
          <p:nvPr/>
        </p:nvCxnSpPr>
        <p:spPr>
          <a:xfrm>
            <a:off x="9409172" y="2034540"/>
            <a:ext cx="173736" cy="0"/>
          </a:xfrm>
          <a:prstGeom prst="line">
            <a:avLst/>
          </a:prstGeom>
          <a:ln w="22225">
            <a:solidFill>
              <a:srgbClr val="2962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82908" y="1417320"/>
            <a:ext cx="2084831" cy="123444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400"/>
              </a:spcAft>
            </a:pPr>
            <a:r>
              <a:rPr sz="1150" b="1" i="0">
                <a:solidFill>
                  <a:srgbClr val="1F3864"/>
                </a:solidFill>
                <a:latin typeface="Segoe UI"/>
              </a:rPr>
              <a:t>Settlement sweeper</a:t>
            </a:r>
          </a:p>
          <a:p>
            <a:pPr algn="ctr">
              <a:lnSpc>
                <a:spcPct val="100000"/>
              </a:lnSpc>
              <a:spcAft>
                <a:spcPts val="400"/>
              </a:spcAft>
            </a:pPr>
            <a:r>
              <a:rPr sz="950" b="0" i="0">
                <a:solidFill>
                  <a:srgbClr val="333F50"/>
                </a:solidFill>
                <a:latin typeface="Segoe UI"/>
              </a:rPr>
              <a:t>EXECUTED → AFFIRMED → SETTLED</a:t>
            </a:r>
          </a:p>
        </p:txBody>
      </p:sp>
      <p:sp>
        <p:nvSpPr>
          <p:cNvPr id="16" name="TextBox 15"/>
          <p:cNvSpPr txBox="1"/>
          <p:nvPr/>
        </p:nvSpPr>
        <p:spPr>
          <a:xfrm>
            <a:off x="548640" y="3063240"/>
            <a:ext cx="11094720" cy="256032"/>
          </a:xfrm>
          <a:prstGeom prst="rect">
            <a:avLst/>
          </a:prstGeom>
          <a:noFill/>
        </p:spPr>
        <p:txBody>
          <a:bodyPr wrap="square" anchor="t" lIns="0" rIns="0" tIns="0" bIns="0">
            <a:spAutoFit/>
          </a:bodyPr>
          <a:lstStyle/>
          <a:p>
            <a:pPr algn="l">
              <a:lnSpc>
                <a:spcPct val="100000"/>
              </a:lnSpc>
              <a:spcAft>
                <a:spcPts val="400"/>
              </a:spcAft>
            </a:pPr>
            <a:r>
              <a:rPr sz="1000" b="1" i="0">
                <a:solidFill>
                  <a:srgbClr val="8A94A6"/>
                </a:solidFill>
                <a:latin typeface="Segoe UI"/>
              </a:rPr>
              <a:t>SETTLEMENT STATES — AUTOMATIC, AUDITED AT EVERY TRANSITION</a:t>
            </a:r>
          </a:p>
        </p:txBody>
      </p:sp>
      <p:sp>
        <p:nvSpPr>
          <p:cNvPr id="17" name="Pentagon 16"/>
          <p:cNvSpPr/>
          <p:nvPr/>
        </p:nvSpPr>
        <p:spPr>
          <a:xfrm>
            <a:off x="548640" y="3401568"/>
            <a:ext cx="1783080" cy="502920"/>
          </a:xfrm>
          <a:prstGeom prst="homePlate">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50" b="1" i="0">
                <a:solidFill>
                  <a:srgbClr val="FFFFFF"/>
                </a:solidFill>
                <a:latin typeface="Segoe UI"/>
              </a:rPr>
              <a:t>EXECUTED</a:t>
            </a:r>
          </a:p>
        </p:txBody>
      </p:sp>
      <p:sp>
        <p:nvSpPr>
          <p:cNvPr id="18" name="Chevron 17"/>
          <p:cNvSpPr/>
          <p:nvPr/>
        </p:nvSpPr>
        <p:spPr>
          <a:xfrm>
            <a:off x="2514600" y="3401568"/>
            <a:ext cx="1783080" cy="502920"/>
          </a:xfrm>
          <a:prstGeom prst="chevron">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50" b="1" i="0">
                <a:solidFill>
                  <a:srgbClr val="FFFFFF"/>
                </a:solidFill>
                <a:latin typeface="Segoe UI"/>
              </a:rPr>
              <a:t>AFFIRMED</a:t>
            </a:r>
          </a:p>
        </p:txBody>
      </p:sp>
      <p:sp>
        <p:nvSpPr>
          <p:cNvPr id="19" name="Chevron 18"/>
          <p:cNvSpPr/>
          <p:nvPr/>
        </p:nvSpPr>
        <p:spPr>
          <a:xfrm>
            <a:off x="4480560" y="3401568"/>
            <a:ext cx="1783080" cy="502920"/>
          </a:xfrm>
          <a:prstGeom prst="chevron">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200"/>
              </a:spcAft>
            </a:pPr>
            <a:r>
              <a:rPr sz="1150" b="1" i="0">
                <a:solidFill>
                  <a:srgbClr val="FFFFFF"/>
                </a:solidFill>
                <a:latin typeface="Segoe UI"/>
              </a:rPr>
              <a:t>SETTLED</a:t>
            </a:r>
          </a:p>
        </p:txBody>
      </p:sp>
      <p:sp>
        <p:nvSpPr>
          <p:cNvPr id="20" name="TextBox 19"/>
          <p:cNvSpPr txBox="1"/>
          <p:nvPr/>
        </p:nvSpPr>
        <p:spPr>
          <a:xfrm>
            <a:off x="6675120" y="3456432"/>
            <a:ext cx="4937760" cy="411480"/>
          </a:xfrm>
          <a:prstGeom prst="rect">
            <a:avLst/>
          </a:prstGeom>
          <a:noFill/>
        </p:spPr>
        <p:txBody>
          <a:bodyPr wrap="square" anchor="t" lIns="0" rIns="0" tIns="0" bIns="0">
            <a:spAutoFit/>
          </a:bodyPr>
          <a:lstStyle/>
          <a:p>
            <a:pPr algn="l">
              <a:lnSpc>
                <a:spcPct val="100000"/>
              </a:lnSpc>
              <a:spcAft>
                <a:spcPts val="400"/>
              </a:spcAft>
            </a:pPr>
            <a:r>
              <a:rPr sz="1100" b="1" i="1">
                <a:solidFill>
                  <a:srgbClr val="1F3864"/>
                </a:solidFill>
                <a:latin typeface="Segoe UI"/>
              </a:rPr>
              <a:t>No manual step anywhere on the happy path.</a:t>
            </a:r>
          </a:p>
        </p:txBody>
      </p:sp>
      <p:sp>
        <p:nvSpPr>
          <p:cNvPr id="21" name="TextBox 20"/>
          <p:cNvSpPr txBox="1"/>
          <p:nvPr/>
        </p:nvSpPr>
        <p:spPr>
          <a:xfrm>
            <a:off x="548640" y="4343400"/>
            <a:ext cx="11094720" cy="1920240"/>
          </a:xfrm>
          <a:prstGeom prst="rect">
            <a:avLst/>
          </a:prstGeom>
          <a:noFill/>
        </p:spPr>
        <p:txBody>
          <a:bodyPr wrap="square" lIns="0" rIns="0" tIns="0" bIns="0">
            <a:spAutoFit/>
          </a:bodyPr>
          <a:lstStyle/>
          <a:p>
            <a:pPr>
              <a:lnSpc>
                <a:spcPct val="104000"/>
              </a:lnSpc>
              <a:spcAft>
                <a:spcPts val="800"/>
              </a:spcAft>
            </a:pPr>
            <a:r>
              <a:rPr sz="1150" b="1">
                <a:solidFill>
                  <a:srgbClr val="2962FF"/>
                </a:solidFill>
                <a:latin typeface="Segoe UI"/>
              </a:rPr>
              <a:t>•  </a:t>
            </a:r>
            <a:r>
              <a:rPr sz="1150" b="1">
                <a:solidFill>
                  <a:srgbClr val="1F3864"/>
                </a:solidFill>
                <a:latin typeface="Segoe UI"/>
              </a:rPr>
              <a:t>Validation failures reject with a reason — </a:t>
            </a:r>
            <a:r>
              <a:rPr sz="1150" b="0">
                <a:solidFill>
                  <a:srgbClr val="333F50"/>
                </a:solidFill>
                <a:latin typeface="Segoe UI"/>
              </a:rPr>
              <a:t>and the rejection is audited.</a:t>
            </a:r>
          </a:p>
          <a:p>
            <a:pPr>
              <a:lnSpc>
                <a:spcPct val="104000"/>
              </a:lnSpc>
              <a:spcAft>
                <a:spcPts val="800"/>
              </a:spcAft>
            </a:pPr>
            <a:r>
              <a:rPr sz="1150" b="1">
                <a:solidFill>
                  <a:srgbClr val="2962FF"/>
                </a:solidFill>
                <a:latin typeface="Segoe UI"/>
              </a:rPr>
              <a:t>•  </a:t>
            </a:r>
            <a:r>
              <a:rPr sz="1150" b="1">
                <a:solidFill>
                  <a:srgbClr val="1F3864"/>
                </a:solidFill>
                <a:latin typeface="Segoe UI"/>
              </a:rPr>
              <a:t>State change + outbox event commit in the same transaction — </a:t>
            </a:r>
            <a:r>
              <a:rPr sz="1150" b="0">
                <a:solidFill>
                  <a:srgbClr val="333F50"/>
                </a:solidFill>
                <a:latin typeface="Segoe UI"/>
              </a:rPr>
              <a:t>a relay publishes to the bus; consumers are idempotent.</a:t>
            </a:r>
          </a:p>
          <a:p>
            <a:pPr>
              <a:lnSpc>
                <a:spcPct val="104000"/>
              </a:lnSpc>
              <a:spcAft>
                <a:spcPts val="800"/>
              </a:spcAft>
            </a:pPr>
            <a:r>
              <a:rPr sz="1150" b="1">
                <a:solidFill>
                  <a:srgbClr val="2962FF"/>
                </a:solidFill>
                <a:latin typeface="Segoe UI"/>
              </a:rPr>
              <a:t>•  </a:t>
            </a:r>
            <a:r>
              <a:rPr sz="1150" b="1">
                <a:solidFill>
                  <a:srgbClr val="1F3864"/>
                </a:solidFill>
                <a:latin typeface="Segoe UI"/>
              </a:rPr>
              <a:t>Exceptions are the job: </a:t>
            </a:r>
            <a:r>
              <a:rPr sz="1150" b="0">
                <a:solidFill>
                  <a:srgbClr val="333F50"/>
                </a:solidFill>
                <a:latin typeface="Segoe UI"/>
              </a:rPr>
              <a:t>they surface on the operations dashboard for the Operations Analyst.</a:t>
            </a:r>
          </a:p>
          <a:p>
            <a:pPr>
              <a:lnSpc>
                <a:spcPct val="104000"/>
              </a:lnSpc>
              <a:spcAft>
                <a:spcPts val="800"/>
              </a:spcAft>
            </a:pPr>
            <a:r>
              <a:rPr sz="1150" b="1">
                <a:solidFill>
                  <a:srgbClr val="2962FF"/>
                </a:solidFill>
                <a:latin typeface="Segoe UI"/>
              </a:rPr>
              <a:t>•  </a:t>
            </a:r>
            <a:r>
              <a:rPr sz="1150" b="1">
                <a:solidFill>
                  <a:srgbClr val="1F3864"/>
                </a:solidFill>
                <a:latin typeface="Segoe UI"/>
              </a:rPr>
              <a:t>Whole fills only in MVP — </a:t>
            </a:r>
            <a:r>
              <a:rPr sz="1150" b="0">
                <a:solidFill>
                  <a:srgbClr val="333F50"/>
                </a:solidFill>
                <a:latin typeface="Segoe UI"/>
              </a:rPr>
              <a:t>executions are separate records, so partial fills need no schema change later.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Q&amp;A BACKUP</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Appendix — data model overview</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A2</a:t>
            </a:r>
          </a:p>
        </p:txBody>
      </p:sp>
      <p:sp>
        <p:nvSpPr>
          <p:cNvPr id="7" name="Rounded Rectangle 6"/>
          <p:cNvSpPr/>
          <p:nvPr/>
        </p:nvSpPr>
        <p:spPr>
          <a:xfrm>
            <a:off x="548640" y="1371600"/>
            <a:ext cx="5440680" cy="1810512"/>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lnSpc>
                <a:spcPct val="100000"/>
              </a:lnSpc>
              <a:spcAft>
                <a:spcPts val="200"/>
              </a:spcAft>
            </a:pPr>
            <a:r>
              <a:rPr sz="1250" b="1" i="0">
                <a:solidFill>
                  <a:srgbClr val="1F3864"/>
                </a:solidFill>
                <a:latin typeface="Segoe UI"/>
              </a:rPr>
              <a:t>Identity &amp; access</a:t>
            </a:r>
          </a:p>
        </p:txBody>
      </p:sp>
      <p:sp>
        <p:nvSpPr>
          <p:cNvPr id="8" name="Rounded Rectangle 7"/>
          <p:cNvSpPr/>
          <p:nvPr/>
        </p:nvSpPr>
        <p:spPr>
          <a:xfrm>
            <a:off x="694944" y="1847088"/>
            <a:ext cx="685800"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users</a:t>
            </a:r>
          </a:p>
        </p:txBody>
      </p:sp>
      <p:sp>
        <p:nvSpPr>
          <p:cNvPr id="9" name="Rounded Rectangle 8"/>
          <p:cNvSpPr/>
          <p:nvPr/>
        </p:nvSpPr>
        <p:spPr>
          <a:xfrm>
            <a:off x="1490472" y="1847088"/>
            <a:ext cx="685800"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roles</a:t>
            </a:r>
          </a:p>
        </p:txBody>
      </p:sp>
      <p:sp>
        <p:nvSpPr>
          <p:cNvPr id="10" name="Rounded Rectangle 9"/>
          <p:cNvSpPr/>
          <p:nvPr/>
        </p:nvSpPr>
        <p:spPr>
          <a:xfrm>
            <a:off x="2286000" y="1847088"/>
            <a:ext cx="113568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permissions</a:t>
            </a:r>
          </a:p>
        </p:txBody>
      </p:sp>
      <p:sp>
        <p:nvSpPr>
          <p:cNvPr id="11" name="Rounded Rectangle 10"/>
          <p:cNvSpPr/>
          <p:nvPr/>
        </p:nvSpPr>
        <p:spPr>
          <a:xfrm>
            <a:off x="3531412" y="1847088"/>
            <a:ext cx="760780"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grants</a:t>
            </a:r>
          </a:p>
        </p:txBody>
      </p:sp>
      <p:sp>
        <p:nvSpPr>
          <p:cNvPr id="12" name="Rounded Rectangle 11"/>
          <p:cNvSpPr/>
          <p:nvPr/>
        </p:nvSpPr>
        <p:spPr>
          <a:xfrm>
            <a:off x="4401920" y="1847088"/>
            <a:ext cx="1435608"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access requests</a:t>
            </a:r>
          </a:p>
        </p:txBody>
      </p:sp>
      <p:sp>
        <p:nvSpPr>
          <p:cNvPr id="13" name="Rounded Rectangle 12"/>
          <p:cNvSpPr/>
          <p:nvPr/>
        </p:nvSpPr>
        <p:spPr>
          <a:xfrm>
            <a:off x="694944" y="2286000"/>
            <a:ext cx="113568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break-glass</a:t>
            </a:r>
          </a:p>
        </p:txBody>
      </p:sp>
      <p:sp>
        <p:nvSpPr>
          <p:cNvPr id="14" name="Rounded Rectangle 13"/>
          <p:cNvSpPr/>
          <p:nvPr/>
        </p:nvSpPr>
        <p:spPr>
          <a:xfrm>
            <a:off x="6199632" y="1371600"/>
            <a:ext cx="5440680" cy="1810512"/>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lnSpc>
                <a:spcPct val="100000"/>
              </a:lnSpc>
              <a:spcAft>
                <a:spcPts val="200"/>
              </a:spcAft>
            </a:pPr>
            <a:r>
              <a:rPr sz="1250" b="1" i="0">
                <a:solidFill>
                  <a:srgbClr val="1F3864"/>
                </a:solidFill>
                <a:latin typeface="Segoe UI"/>
              </a:rPr>
              <a:t>Market data</a:t>
            </a:r>
          </a:p>
        </p:txBody>
      </p:sp>
      <p:sp>
        <p:nvSpPr>
          <p:cNvPr id="15" name="Rounded Rectangle 14"/>
          <p:cNvSpPr/>
          <p:nvPr/>
        </p:nvSpPr>
        <p:spPr>
          <a:xfrm>
            <a:off x="6345936" y="1847088"/>
            <a:ext cx="113568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instruments</a:t>
            </a:r>
          </a:p>
        </p:txBody>
      </p:sp>
      <p:sp>
        <p:nvSpPr>
          <p:cNvPr id="16" name="Rounded Rectangle 15"/>
          <p:cNvSpPr/>
          <p:nvPr/>
        </p:nvSpPr>
        <p:spPr>
          <a:xfrm>
            <a:off x="7591348" y="1847088"/>
            <a:ext cx="113568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price ticks</a:t>
            </a:r>
          </a:p>
        </p:txBody>
      </p:sp>
      <p:sp>
        <p:nvSpPr>
          <p:cNvPr id="17" name="Rounded Rectangle 16"/>
          <p:cNvSpPr/>
          <p:nvPr/>
        </p:nvSpPr>
        <p:spPr>
          <a:xfrm>
            <a:off x="8836760" y="1847088"/>
            <a:ext cx="106070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news items</a:t>
            </a:r>
          </a:p>
        </p:txBody>
      </p:sp>
      <p:sp>
        <p:nvSpPr>
          <p:cNvPr id="18" name="Rounded Rectangle 17"/>
          <p:cNvSpPr/>
          <p:nvPr/>
        </p:nvSpPr>
        <p:spPr>
          <a:xfrm>
            <a:off x="10007192" y="1847088"/>
            <a:ext cx="1360627"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news sentiment</a:t>
            </a:r>
          </a:p>
        </p:txBody>
      </p:sp>
      <p:sp>
        <p:nvSpPr>
          <p:cNvPr id="19" name="Rounded Rectangle 18"/>
          <p:cNvSpPr/>
          <p:nvPr/>
        </p:nvSpPr>
        <p:spPr>
          <a:xfrm>
            <a:off x="548640" y="3364992"/>
            <a:ext cx="5440680" cy="1810512"/>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lnSpc>
                <a:spcPct val="100000"/>
              </a:lnSpc>
              <a:spcAft>
                <a:spcPts val="200"/>
              </a:spcAft>
            </a:pPr>
            <a:r>
              <a:rPr sz="1250" b="1" i="0">
                <a:solidFill>
                  <a:srgbClr val="1F3864"/>
                </a:solidFill>
                <a:latin typeface="Segoe UI"/>
              </a:rPr>
              <a:t>Trading</a:t>
            </a:r>
          </a:p>
        </p:txBody>
      </p:sp>
      <p:sp>
        <p:nvSpPr>
          <p:cNvPr id="20" name="Rounded Rectangle 19"/>
          <p:cNvSpPr/>
          <p:nvPr/>
        </p:nvSpPr>
        <p:spPr>
          <a:xfrm>
            <a:off x="694944" y="3840480"/>
            <a:ext cx="106070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portfolios</a:t>
            </a:r>
          </a:p>
        </p:txBody>
      </p:sp>
      <p:sp>
        <p:nvSpPr>
          <p:cNvPr id="21" name="Rounded Rectangle 20"/>
          <p:cNvSpPr/>
          <p:nvPr/>
        </p:nvSpPr>
        <p:spPr>
          <a:xfrm>
            <a:off x="1865376" y="3840480"/>
            <a:ext cx="760780"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orders</a:t>
            </a:r>
          </a:p>
        </p:txBody>
      </p:sp>
      <p:sp>
        <p:nvSpPr>
          <p:cNvPr id="22" name="Rounded Rectangle 21"/>
          <p:cNvSpPr/>
          <p:nvPr/>
        </p:nvSpPr>
        <p:spPr>
          <a:xfrm>
            <a:off x="2735884" y="3840480"/>
            <a:ext cx="106070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executions</a:t>
            </a:r>
          </a:p>
        </p:txBody>
      </p:sp>
      <p:sp>
        <p:nvSpPr>
          <p:cNvPr id="23" name="Rounded Rectangle 22"/>
          <p:cNvSpPr/>
          <p:nvPr/>
        </p:nvSpPr>
        <p:spPr>
          <a:xfrm>
            <a:off x="694944" y="4279392"/>
            <a:ext cx="2035454"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settlement instructions</a:t>
            </a:r>
          </a:p>
        </p:txBody>
      </p:sp>
      <p:sp>
        <p:nvSpPr>
          <p:cNvPr id="24" name="Rounded Rectangle 23"/>
          <p:cNvSpPr/>
          <p:nvPr/>
        </p:nvSpPr>
        <p:spPr>
          <a:xfrm>
            <a:off x="2840126" y="4279392"/>
            <a:ext cx="985723"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positions</a:t>
            </a:r>
          </a:p>
        </p:txBody>
      </p:sp>
      <p:sp>
        <p:nvSpPr>
          <p:cNvPr id="25" name="Rounded Rectangle 24"/>
          <p:cNvSpPr/>
          <p:nvPr/>
        </p:nvSpPr>
        <p:spPr>
          <a:xfrm>
            <a:off x="6199632" y="3364992"/>
            <a:ext cx="5440680" cy="1810512"/>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lnSpc>
                <a:spcPct val="100000"/>
              </a:lnSpc>
              <a:spcAft>
                <a:spcPts val="200"/>
              </a:spcAft>
            </a:pPr>
            <a:r>
              <a:rPr sz="1250" b="1" i="0">
                <a:solidFill>
                  <a:srgbClr val="1F3864"/>
                </a:solidFill>
                <a:latin typeface="Segoe UI"/>
              </a:rPr>
              <a:t>Assurance</a:t>
            </a:r>
          </a:p>
        </p:txBody>
      </p:sp>
      <p:sp>
        <p:nvSpPr>
          <p:cNvPr id="26" name="Rounded Rectangle 25"/>
          <p:cNvSpPr/>
          <p:nvPr/>
        </p:nvSpPr>
        <p:spPr>
          <a:xfrm>
            <a:off x="6345936" y="3840480"/>
            <a:ext cx="1735531"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valuation snapshots</a:t>
            </a:r>
          </a:p>
        </p:txBody>
      </p:sp>
      <p:sp>
        <p:nvSpPr>
          <p:cNvPr id="27" name="Rounded Rectangle 26"/>
          <p:cNvSpPr/>
          <p:nvPr/>
        </p:nvSpPr>
        <p:spPr>
          <a:xfrm>
            <a:off x="8191195" y="3840480"/>
            <a:ext cx="1210665"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audit events</a:t>
            </a:r>
          </a:p>
        </p:txBody>
      </p:sp>
      <p:sp>
        <p:nvSpPr>
          <p:cNvPr id="28" name="Rounded Rectangle 27"/>
          <p:cNvSpPr/>
          <p:nvPr/>
        </p:nvSpPr>
        <p:spPr>
          <a:xfrm>
            <a:off x="9511588" y="3840480"/>
            <a:ext cx="1285646"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outbox events</a:t>
            </a:r>
          </a:p>
        </p:txBody>
      </p:sp>
      <p:sp>
        <p:nvSpPr>
          <p:cNvPr id="29" name="Rounded Rectangle 28"/>
          <p:cNvSpPr/>
          <p:nvPr/>
        </p:nvSpPr>
        <p:spPr>
          <a:xfrm>
            <a:off x="6345936" y="4279392"/>
            <a:ext cx="835761" cy="329184"/>
          </a:xfrm>
          <a:prstGeom prst="roundRect">
            <a:avLst>
              <a:gd name="adj" fmla="val 50000"/>
            </a:avLst>
          </a:prstGeom>
          <a:solidFill>
            <a:srgbClr val="FFFFFF"/>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00000"/>
              </a:lnSpc>
              <a:spcAft>
                <a:spcPts val="200"/>
              </a:spcAft>
            </a:pPr>
            <a:r>
              <a:rPr sz="950" b="0" i="0">
                <a:solidFill>
                  <a:srgbClr val="333F50"/>
                </a:solidFill>
                <a:latin typeface="Segoe UI"/>
              </a:rPr>
              <a:t>reports</a:t>
            </a:r>
          </a:p>
        </p:txBody>
      </p:sp>
      <p:sp>
        <p:nvSpPr>
          <p:cNvPr id="30" name="Rounded Rectangle 29"/>
          <p:cNvSpPr/>
          <p:nvPr/>
        </p:nvSpPr>
        <p:spPr>
          <a:xfrm>
            <a:off x="548640" y="5394960"/>
            <a:ext cx="11094720" cy="91440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400"/>
              </a:spcAft>
            </a:pPr>
            <a:r>
              <a:rPr sz="1050" b="1" i="0">
                <a:solidFill>
                  <a:srgbClr val="1F3864"/>
                </a:solidFill>
                <a:latin typeface="Segoe UI"/>
              </a:rPr>
              <a:t>AUDIT HASH CHAIN   </a:t>
            </a:r>
            <a:r>
              <a:rPr sz="1200" b="1" i="0">
                <a:solidFill>
                  <a:srgbClr val="333F50"/>
                </a:solidFill>
                <a:latin typeface="Segoe UI"/>
              </a:rPr>
              <a:t>payload_hash = sha256(canonical_json(entry) + prev_hash)</a:t>
            </a:r>
          </a:p>
          <a:p>
            <a:pPr algn="ctr">
              <a:lnSpc>
                <a:spcPct val="100000"/>
              </a:lnSpc>
              <a:spcAft>
                <a:spcPts val="400"/>
              </a:spcAft>
            </a:pPr>
            <a:r>
              <a:rPr sz="1050" b="0" i="0">
                <a:solidFill>
                  <a:srgbClr val="333F50"/>
                </a:solidFill>
                <a:latin typeface="Segoe UI"/>
              </a:rPr>
              <a:t>Append-only, tamper-evident by construction — every denial, grant and activation is a link in the chain; the auditor role can search and export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0292"/>
          </a:xfrm>
          <a:prstGeom prst="rect">
            <a:avLst/>
          </a:prstGeom>
          <a:solidFill>
            <a:srgbClr val="29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4720" cy="219456"/>
          </a:xfrm>
          <a:prstGeom prst="rect">
            <a:avLst/>
          </a:prstGeom>
          <a:noFill/>
        </p:spPr>
        <p:txBody>
          <a:bodyPr wrap="square" anchor="t" lIns="0" rIns="0" tIns="0" bIns="0">
            <a:spAutoFit/>
          </a:bodyPr>
          <a:lstStyle/>
          <a:p>
            <a:pPr algn="l">
              <a:lnSpc>
                <a:spcPct val="100000"/>
              </a:lnSpc>
              <a:spcAft>
                <a:spcPts val="400"/>
              </a:spcAft>
            </a:pPr>
            <a:r>
              <a:rPr sz="1050" b="1" i="0">
                <a:solidFill>
                  <a:srgbClr val="8A94A6"/>
                </a:solidFill>
                <a:latin typeface="Segoe UI"/>
              </a:rPr>
              <a:t>Q&amp;A BACKUP</a:t>
            </a:r>
          </a:p>
        </p:txBody>
      </p:sp>
      <p:sp>
        <p:nvSpPr>
          <p:cNvPr id="4" name="TextBox 3"/>
          <p:cNvSpPr txBox="1"/>
          <p:nvPr/>
        </p:nvSpPr>
        <p:spPr>
          <a:xfrm>
            <a:off x="548640" y="475488"/>
            <a:ext cx="11094720" cy="566928"/>
          </a:xfrm>
          <a:prstGeom prst="rect">
            <a:avLst/>
          </a:prstGeom>
          <a:noFill/>
        </p:spPr>
        <p:txBody>
          <a:bodyPr wrap="square" anchor="t" lIns="0" rIns="0" tIns="0" bIns="0">
            <a:spAutoFit/>
          </a:bodyPr>
          <a:lstStyle/>
          <a:p>
            <a:pPr algn="l">
              <a:lnSpc>
                <a:spcPct val="100000"/>
              </a:lnSpc>
              <a:spcAft>
                <a:spcPts val="400"/>
              </a:spcAft>
            </a:pPr>
            <a:r>
              <a:rPr sz="2800" b="1" i="0">
                <a:solidFill>
                  <a:srgbClr val="1F3864"/>
                </a:solidFill>
                <a:latin typeface="Segoe UI"/>
              </a:rPr>
              <a:t>Appendix — CI/CD pipeline configuration</a:t>
            </a:r>
          </a:p>
        </p:txBody>
      </p:sp>
      <p:sp>
        <p:nvSpPr>
          <p:cNvPr id="5" name="Rectangle 4"/>
          <p:cNvSpPr/>
          <p:nvPr/>
        </p:nvSpPr>
        <p:spPr>
          <a:xfrm>
            <a:off x="548640" y="1097280"/>
            <a:ext cx="11094720" cy="12700"/>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4720" y="6492240"/>
            <a:ext cx="548640" cy="219456"/>
          </a:xfrm>
          <a:prstGeom prst="rect">
            <a:avLst/>
          </a:prstGeom>
          <a:noFill/>
        </p:spPr>
        <p:txBody>
          <a:bodyPr wrap="square" anchor="t" lIns="0" rIns="0" tIns="0" bIns="0">
            <a:spAutoFit/>
          </a:bodyPr>
          <a:lstStyle/>
          <a:p>
            <a:pPr algn="r">
              <a:lnSpc>
                <a:spcPct val="100000"/>
              </a:lnSpc>
              <a:spcAft>
                <a:spcPts val="400"/>
              </a:spcAft>
            </a:pPr>
            <a:r>
              <a:rPr sz="1000" b="0" i="0">
                <a:solidFill>
                  <a:srgbClr val="8A94A6"/>
                </a:solidFill>
                <a:latin typeface="Segoe UI"/>
              </a:rPr>
              <a:t>A3</a:t>
            </a:r>
          </a:p>
        </p:txBody>
      </p:sp>
      <p:sp>
        <p:nvSpPr>
          <p:cNvPr id="7" name="Rounded Rectangle 6"/>
          <p:cNvSpPr/>
          <p:nvPr/>
        </p:nvSpPr>
        <p:spPr>
          <a:xfrm>
            <a:off x="548640" y="1554480"/>
            <a:ext cx="1719072" cy="11887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spcAft>
                <a:spcPts val="200"/>
              </a:spcAft>
            </a:pPr>
            <a:r>
              <a:rPr sz="1150" b="1" i="0">
                <a:solidFill>
                  <a:srgbClr val="1F3864"/>
                </a:solidFill>
                <a:latin typeface="Segoe UI"/>
              </a:rPr>
              <a:t>1 · lint</a:t>
            </a:r>
          </a:p>
          <a:p>
            <a:pPr algn="ctr">
              <a:lnSpc>
                <a:spcPct val="100000"/>
              </a:lnSpc>
              <a:spcAft>
                <a:spcPts val="200"/>
              </a:spcAft>
            </a:pPr>
            <a:r>
              <a:rPr sz="900" b="0" i="0">
                <a:solidFill>
                  <a:srgbClr val="333F50"/>
                </a:solidFill>
                <a:latin typeface="Segoe UI"/>
              </a:rPr>
              <a:t>compileall +</a:t>
            </a:r>
          </a:p>
          <a:p>
            <a:pPr algn="ctr">
              <a:lnSpc>
                <a:spcPct val="100000"/>
              </a:lnSpc>
              <a:spcAft>
                <a:spcPts val="200"/>
              </a:spcAft>
            </a:pPr>
            <a:r>
              <a:rPr sz="900" b="0" i="0">
                <a:solidFill>
                  <a:srgbClr val="333F50"/>
                </a:solidFill>
                <a:latin typeface="Segoe UI"/>
              </a:rPr>
              <a:t>pip check</a:t>
            </a:r>
          </a:p>
        </p:txBody>
      </p:sp>
      <p:cxnSp>
        <p:nvCxnSpPr>
          <p:cNvPr id="8" name="Connector 7"/>
          <p:cNvCxnSpPr/>
          <p:nvPr/>
        </p:nvCxnSpPr>
        <p:spPr>
          <a:xfrm>
            <a:off x="2267712" y="2148840"/>
            <a:ext cx="155448" cy="0"/>
          </a:xfrm>
          <a:prstGeom prst="line">
            <a:avLst/>
          </a:prstGeom>
          <a:ln w="19050">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23160" y="1554480"/>
            <a:ext cx="1719072" cy="11887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spcAft>
                <a:spcPts val="200"/>
              </a:spcAft>
            </a:pPr>
            <a:r>
              <a:rPr sz="1150" b="1" i="0">
                <a:solidFill>
                  <a:srgbClr val="1F3864"/>
                </a:solidFill>
                <a:latin typeface="Segoe UI"/>
              </a:rPr>
              <a:t>2 · test</a:t>
            </a:r>
          </a:p>
          <a:p>
            <a:pPr algn="ctr">
              <a:lnSpc>
                <a:spcPct val="100000"/>
              </a:lnSpc>
              <a:spcAft>
                <a:spcPts val="200"/>
              </a:spcAft>
            </a:pPr>
            <a:r>
              <a:rPr sz="900" b="0" i="0">
                <a:solidFill>
                  <a:srgbClr val="333F50"/>
                </a:solidFill>
                <a:latin typeface="Segoe UI"/>
              </a:rPr>
              <a:t>backend pytest</a:t>
            </a:r>
          </a:p>
          <a:p>
            <a:pPr algn="ctr">
              <a:lnSpc>
                <a:spcPct val="100000"/>
              </a:lnSpc>
              <a:spcAft>
                <a:spcPts val="200"/>
              </a:spcAft>
            </a:pPr>
            <a:r>
              <a:rPr sz="900" b="0" i="0">
                <a:solidFill>
                  <a:srgbClr val="333F50"/>
                </a:solidFill>
                <a:latin typeface="Segoe UI"/>
              </a:rPr>
              <a:t>frontend build</a:t>
            </a:r>
          </a:p>
        </p:txBody>
      </p:sp>
      <p:cxnSp>
        <p:nvCxnSpPr>
          <p:cNvPr id="10" name="Connector 9"/>
          <p:cNvCxnSpPr/>
          <p:nvPr/>
        </p:nvCxnSpPr>
        <p:spPr>
          <a:xfrm>
            <a:off x="4142232" y="2148840"/>
            <a:ext cx="155448" cy="0"/>
          </a:xfrm>
          <a:prstGeom prst="line">
            <a:avLst/>
          </a:prstGeom>
          <a:ln w="19050">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97680" y="1554480"/>
            <a:ext cx="1719072" cy="1188720"/>
          </a:xfrm>
          <a:prstGeom prst="roundRect">
            <a:avLst>
              <a:gd name="adj" fmla="val 10000"/>
            </a:avLst>
          </a:prstGeom>
          <a:solidFill>
            <a:srgbClr val="E9EFFC"/>
          </a:solidFill>
          <a:ln w="9525">
            <a:solidFill>
              <a:srgbClr val="2962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spcAft>
                <a:spcPts val="200"/>
              </a:spcAft>
            </a:pPr>
            <a:r>
              <a:rPr sz="1150" b="1" i="0">
                <a:solidFill>
                  <a:srgbClr val="1F3864"/>
                </a:solidFill>
                <a:latin typeface="Segoe UI"/>
              </a:rPr>
              <a:t>3 · scan</a:t>
            </a:r>
          </a:p>
          <a:p>
            <a:pPr algn="ctr">
              <a:lnSpc>
                <a:spcPct val="100000"/>
              </a:lnSpc>
              <a:spcAft>
                <a:spcPts val="200"/>
              </a:spcAft>
            </a:pPr>
            <a:r>
              <a:rPr sz="900" b="0" i="0">
                <a:solidFill>
                  <a:srgbClr val="333F50"/>
                </a:solidFill>
                <a:latin typeface="Segoe UI"/>
              </a:rPr>
              <a:t>gitleaks + trivy</a:t>
            </a:r>
          </a:p>
          <a:p>
            <a:pPr algn="ctr">
              <a:lnSpc>
                <a:spcPct val="100000"/>
              </a:lnSpc>
              <a:spcAft>
                <a:spcPts val="200"/>
              </a:spcAft>
            </a:pPr>
            <a:r>
              <a:rPr sz="900" b="0" i="0">
                <a:solidFill>
                  <a:srgbClr val="333F50"/>
                </a:solidFill>
                <a:latin typeface="Segoe UI"/>
              </a:rPr>
              <a:t>HIGH/CRITICAL</a:t>
            </a:r>
          </a:p>
        </p:txBody>
      </p:sp>
      <p:cxnSp>
        <p:nvCxnSpPr>
          <p:cNvPr id="12" name="Connector 11"/>
          <p:cNvCxnSpPr/>
          <p:nvPr/>
        </p:nvCxnSpPr>
        <p:spPr>
          <a:xfrm>
            <a:off x="6016752" y="2148840"/>
            <a:ext cx="155448" cy="0"/>
          </a:xfrm>
          <a:prstGeom prst="line">
            <a:avLst/>
          </a:prstGeom>
          <a:ln w="19050">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72200" y="1554480"/>
            <a:ext cx="1719072" cy="11887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spcAft>
                <a:spcPts val="200"/>
              </a:spcAft>
            </a:pPr>
            <a:r>
              <a:rPr sz="1150" b="1" i="0">
                <a:solidFill>
                  <a:srgbClr val="1F3864"/>
                </a:solidFill>
                <a:latin typeface="Segoe UI"/>
              </a:rPr>
              <a:t>4 · build</a:t>
            </a:r>
          </a:p>
          <a:p>
            <a:pPr algn="ctr">
              <a:lnSpc>
                <a:spcPct val="100000"/>
              </a:lnSpc>
              <a:spcAft>
                <a:spcPts val="200"/>
              </a:spcAft>
            </a:pPr>
            <a:r>
              <a:rPr sz="900" b="0" i="0">
                <a:solidFill>
                  <a:srgbClr val="333F50"/>
                </a:solidFill>
                <a:latin typeface="Segoe UI"/>
              </a:rPr>
              <a:t>Docker images</a:t>
            </a:r>
          </a:p>
          <a:p>
            <a:pPr algn="ctr">
              <a:lnSpc>
                <a:spcPct val="100000"/>
              </a:lnSpc>
              <a:spcAft>
                <a:spcPts val="200"/>
              </a:spcAft>
            </a:pPr>
            <a:r>
              <a:rPr sz="900" b="0" i="0">
                <a:solidFill>
                  <a:srgbClr val="333F50"/>
                </a:solidFill>
                <a:latin typeface="Segoe UI"/>
              </a:rPr>
              <a:t>(default branch)</a:t>
            </a:r>
          </a:p>
        </p:txBody>
      </p:sp>
      <p:cxnSp>
        <p:nvCxnSpPr>
          <p:cNvPr id="14" name="Connector 13"/>
          <p:cNvCxnSpPr/>
          <p:nvPr/>
        </p:nvCxnSpPr>
        <p:spPr>
          <a:xfrm>
            <a:off x="7891272" y="2148840"/>
            <a:ext cx="155448" cy="0"/>
          </a:xfrm>
          <a:prstGeom prst="line">
            <a:avLst/>
          </a:prstGeom>
          <a:ln w="19050">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20" y="1554480"/>
            <a:ext cx="1719072" cy="11887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spcAft>
                <a:spcPts val="200"/>
              </a:spcAft>
            </a:pPr>
            <a:r>
              <a:rPr sz="1150" b="1" i="0">
                <a:solidFill>
                  <a:srgbClr val="1F3864"/>
                </a:solidFill>
                <a:latin typeface="Segoe UI"/>
              </a:rPr>
              <a:t>5 · deploy-dev</a:t>
            </a:r>
          </a:p>
          <a:p>
            <a:pPr algn="ctr">
              <a:lnSpc>
                <a:spcPct val="100000"/>
              </a:lnSpc>
              <a:spcAft>
                <a:spcPts val="200"/>
              </a:spcAft>
            </a:pPr>
            <a:r>
              <a:rPr sz="900" b="0" i="0">
                <a:solidFill>
                  <a:srgbClr val="333F50"/>
                </a:solidFill>
                <a:latin typeface="Segoe UI"/>
              </a:rPr>
              <a:t>SSH: git pull +</a:t>
            </a:r>
          </a:p>
          <a:p>
            <a:pPr algn="ctr">
              <a:lnSpc>
                <a:spcPct val="100000"/>
              </a:lnSpc>
              <a:spcAft>
                <a:spcPts val="200"/>
              </a:spcAft>
            </a:pPr>
            <a:r>
              <a:rPr sz="900" b="0" i="0">
                <a:solidFill>
                  <a:srgbClr val="333F50"/>
                </a:solidFill>
                <a:latin typeface="Segoe UI"/>
              </a:rPr>
              <a:t>compose up --build</a:t>
            </a:r>
          </a:p>
        </p:txBody>
      </p:sp>
      <p:cxnSp>
        <p:nvCxnSpPr>
          <p:cNvPr id="16" name="Connector 15"/>
          <p:cNvCxnSpPr/>
          <p:nvPr/>
        </p:nvCxnSpPr>
        <p:spPr>
          <a:xfrm>
            <a:off x="9765792" y="2148840"/>
            <a:ext cx="155448" cy="0"/>
          </a:xfrm>
          <a:prstGeom prst="line">
            <a:avLst/>
          </a:prstGeom>
          <a:ln w="19050">
            <a:solidFill>
              <a:srgbClr val="8A94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921240" y="1554480"/>
            <a:ext cx="1719072" cy="1188720"/>
          </a:xfrm>
          <a:prstGeom prst="roundRect">
            <a:avLst>
              <a:gd name="adj" fmla="val 10000"/>
            </a:avLst>
          </a:prstGeom>
          <a:solidFill>
            <a:srgbClr val="F4F6FA"/>
          </a:solidFill>
          <a:ln w="952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spcAft>
                <a:spcPts val="200"/>
              </a:spcAft>
            </a:pPr>
            <a:r>
              <a:rPr sz="1150" b="1" i="0">
                <a:solidFill>
                  <a:srgbClr val="1F3864"/>
                </a:solidFill>
                <a:latin typeface="Segoe UI"/>
              </a:rPr>
              <a:t>6 · deploy-demo</a:t>
            </a:r>
          </a:p>
          <a:p>
            <a:pPr algn="ctr">
              <a:lnSpc>
                <a:spcPct val="100000"/>
              </a:lnSpc>
              <a:spcAft>
                <a:spcPts val="200"/>
              </a:spcAft>
            </a:pPr>
            <a:r>
              <a:rPr sz="900" b="0" i="0">
                <a:solidFill>
                  <a:srgbClr val="333F50"/>
                </a:solidFill>
                <a:latin typeface="Segoe UI"/>
              </a:rPr>
              <a:t>manual gate</a:t>
            </a:r>
          </a:p>
        </p:txBody>
      </p:sp>
      <p:sp>
        <p:nvSpPr>
          <p:cNvPr id="18" name="TextBox 17"/>
          <p:cNvSpPr txBox="1"/>
          <p:nvPr/>
        </p:nvSpPr>
        <p:spPr>
          <a:xfrm>
            <a:off x="548640" y="2926080"/>
            <a:ext cx="11094720" cy="274320"/>
          </a:xfrm>
          <a:prstGeom prst="rect">
            <a:avLst/>
          </a:prstGeom>
          <a:noFill/>
        </p:spPr>
        <p:txBody>
          <a:bodyPr wrap="square" anchor="t" lIns="0" rIns="0" tIns="0" bIns="0">
            <a:spAutoFit/>
          </a:bodyPr>
          <a:lstStyle/>
          <a:p>
            <a:pPr algn="ctr">
              <a:lnSpc>
                <a:spcPct val="100000"/>
              </a:lnSpc>
              <a:spcAft>
                <a:spcPts val="400"/>
              </a:spcAft>
            </a:pPr>
            <a:r>
              <a:rPr sz="1100" b="1" i="0">
                <a:solidFill>
                  <a:srgbClr val="2962FF"/>
                </a:solidFill>
                <a:latin typeface="Segoe UI"/>
              </a:rPr>
              <a:t>Security scan BLOCKS the pipeline — secrets (gitleaks) and HIGH/CRITICAL findings (trivy) fail the build.</a:t>
            </a:r>
          </a:p>
        </p:txBody>
      </p:sp>
      <p:sp>
        <p:nvSpPr>
          <p:cNvPr id="19" name="TextBox 18"/>
          <p:cNvSpPr txBox="1"/>
          <p:nvPr/>
        </p:nvSpPr>
        <p:spPr>
          <a:xfrm>
            <a:off x="548640" y="3520440"/>
            <a:ext cx="11094720" cy="1737360"/>
          </a:xfrm>
          <a:prstGeom prst="rect">
            <a:avLst/>
          </a:prstGeom>
          <a:noFill/>
        </p:spPr>
        <p:txBody>
          <a:bodyPr wrap="square" lIns="0" rIns="0" tIns="0" bIns="0">
            <a:spAutoFit/>
          </a:bodyPr>
          <a:lstStyle/>
          <a:p>
            <a:pPr>
              <a:lnSpc>
                <a:spcPct val="104000"/>
              </a:lnSpc>
              <a:spcAft>
                <a:spcPts val="800"/>
              </a:spcAft>
            </a:pPr>
            <a:r>
              <a:rPr sz="1150" b="1">
                <a:solidFill>
                  <a:srgbClr val="2962FF"/>
                </a:solidFill>
                <a:latin typeface="Segoe UI"/>
              </a:rPr>
              <a:t>•  </a:t>
            </a:r>
            <a:r>
              <a:rPr sz="1150" b="1">
                <a:solidFill>
                  <a:srgbClr val="1F3864"/>
                </a:solidFill>
                <a:latin typeface="Segoe UI"/>
              </a:rPr>
              <a:t>Defined in .gitlab-ci.yml; </a:t>
            </a:r>
            <a:r>
              <a:rPr sz="1150" b="0">
                <a:solidFill>
                  <a:srgbClr val="333F50"/>
                </a:solidFill>
                <a:latin typeface="Segoe UI"/>
              </a:rPr>
              <a:t>runs on merge requests and the default branch.</a:t>
            </a:r>
          </a:p>
          <a:p>
            <a:pPr>
              <a:lnSpc>
                <a:spcPct val="104000"/>
              </a:lnSpc>
              <a:spcAft>
                <a:spcPts val="800"/>
              </a:spcAft>
            </a:pPr>
            <a:r>
              <a:rPr sz="1150" b="1">
                <a:solidFill>
                  <a:srgbClr val="2962FF"/>
                </a:solidFill>
                <a:latin typeface="Segoe UI"/>
              </a:rPr>
              <a:t>•  </a:t>
            </a:r>
            <a:r>
              <a:rPr sz="1150" b="1">
                <a:solidFill>
                  <a:srgbClr val="1F3864"/>
                </a:solidFill>
                <a:latin typeface="Segoe UI"/>
              </a:rPr>
              <a:t>Docker: </a:t>
            </a:r>
            <a:r>
              <a:rPr sz="1150" b="0">
                <a:solidFill>
                  <a:srgbClr val="333F50"/>
                </a:solidFill>
                <a:latin typeface="Segoe UI"/>
              </a:rPr>
              <a:t>backend python:3.13-slim + uvicorn; frontend node:22-alpine build → nginx serving the SPA.</a:t>
            </a:r>
          </a:p>
          <a:p>
            <a:pPr>
              <a:lnSpc>
                <a:spcPct val="104000"/>
              </a:lnSpc>
              <a:spcAft>
                <a:spcPts val="800"/>
              </a:spcAft>
            </a:pPr>
            <a:r>
              <a:rPr sz="1150" b="1">
                <a:solidFill>
                  <a:srgbClr val="2962FF"/>
                </a:solidFill>
                <a:latin typeface="Segoe UI"/>
              </a:rPr>
              <a:t>•  </a:t>
            </a:r>
            <a:r>
              <a:rPr sz="1150" b="1">
                <a:solidFill>
                  <a:srgbClr val="1F3864"/>
                </a:solidFill>
                <a:latin typeface="Segoe UI"/>
              </a:rPr>
              <a:t>Terraform: </a:t>
            </a:r>
            <a:r>
              <a:rPr sz="1150" b="0">
                <a:solidFill>
                  <a:srgbClr val="333F50"/>
                </a:solidFill>
                <a:latin typeface="Segoe UI"/>
              </a:rPr>
              <a:t>single-VM reference deployment, optional RDS PostgreSQL, provider-portable (Azure parity notes).</a:t>
            </a:r>
          </a:p>
        </p:txBody>
      </p:sp>
      <p:sp>
        <p:nvSpPr>
          <p:cNvPr id="20" name="Rounded Rectangle 19"/>
          <p:cNvSpPr/>
          <p:nvPr/>
        </p:nvSpPr>
        <p:spPr>
          <a:xfrm>
            <a:off x="548640" y="5486400"/>
            <a:ext cx="11094720" cy="777240"/>
          </a:xfrm>
          <a:prstGeom prst="roundRect">
            <a:avLst>
              <a:gd name="adj" fmla="val 10000"/>
            </a:avLst>
          </a:prstGeom>
          <a:solidFill>
            <a:srgbClr val="E9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0000"/>
              </a:lnSpc>
              <a:spcAft>
                <a:spcPts val="200"/>
              </a:spcAft>
            </a:pPr>
            <a:r>
              <a:rPr sz="1150" b="1" i="0">
                <a:solidFill>
                  <a:srgbClr val="1F3864"/>
                </a:solidFill>
                <a:latin typeface="Segoe UI"/>
              </a:rPr>
              <a:t>Honest status: </a:t>
            </a:r>
            <a:r>
              <a:rPr sz="1150" b="0" i="0">
                <a:solidFill>
                  <a:srgbClr val="333F50"/>
                </a:solidFill>
                <a:latin typeface="Segoe UI"/>
              </a:rPr>
              <a:t>written and statically reviewed — zero pipeline runs (no cloud in the program environment). Gates were replicated locally on every merge.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